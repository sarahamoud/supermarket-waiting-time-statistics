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2" r:id="rId6"/>
    <p:sldId id="261" r:id="rId7"/>
    <p:sldId id="258" r:id="rId8"/>
    <p:sldId id="265" r:id="rId9"/>
    <p:sldId id="263" r:id="rId10"/>
    <p:sldId id="266" r:id="rId11"/>
    <p:sldId id="267" r:id="rId1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99CCFF"/>
    <a:srgbClr val="800000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7E484-19D1-45D5-9EF9-ED1ABC41D449}" v="654" dt="2024-08-08T15:36:17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סגנון בהיר 1 - הדגשה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סגנון בהיר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סגנון בהיר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סגנון בהיר 3 - הדגשה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518" autoAdjust="0"/>
    <p:restoredTop sz="95199" autoAdjust="0"/>
  </p:normalViewPr>
  <p:slideViewPr>
    <p:cSldViewPr snapToGrid="0">
      <p:cViewPr varScale="1">
        <p:scale>
          <a:sx n="79" d="100"/>
          <a:sy n="79" d="100"/>
        </p:scale>
        <p:origin x="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9E9C9C1-88F3-4752-BFF5-8C14F4AC9C4B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3B77312-D673-4AC4-81B8-2BD43D4B5A5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3617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77312-D673-4AC4-81B8-2BD43D4B5A59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86372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D0DC17-5EED-1035-4FFF-C4F794971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47243D5-B71E-8FBA-956A-DB5825492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564ACD7-85C3-91F8-CD0B-7B58820A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BC5-3E05-41C6-969F-45A7E5AB22CC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13205B6-A841-625B-C29A-1BA56E62F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BD318D1-E0C5-D4EE-CEC6-D01F26EBF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4A55-68C2-4D29-9F8B-D2670FFEF0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0850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39B563-A5B4-CFD1-B2AB-0535C07E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6C002ED-DA94-1EE2-9B49-5A7BCC69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BF33F9E-BF3C-B78C-35D4-ECA4507AE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BC5-3E05-41C6-969F-45A7E5AB22CC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ABE27F8-6109-C18C-3913-0B18B396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DAADD0F-CDC5-B474-AE32-6D8B6FEB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4A55-68C2-4D29-9F8B-D2670FFEF0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3870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12E2FD-79E5-9121-A2DB-ED9CC08FB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D66C819-2F73-5D95-6F4E-BC68D5204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D833990-CB2A-9EDF-4A5F-ABB0937B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BC5-3E05-41C6-969F-45A7E5AB22CC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D595B72-56D0-D0FB-0E9E-42C11909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C61D088-C3B0-CCDD-C6A9-6E1697D40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4A55-68C2-4D29-9F8B-D2670FFEF0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5913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C4C79D0-C81E-FF32-7518-05FD16F7F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84A718C-5264-665E-A3ED-AAC472E6C2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F113085-18D1-97C7-8D61-E2D7DF875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071DDC3-357E-DEEF-8760-E05C4CF7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BC5-3E05-41C6-969F-45A7E5AB22CC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4DCBC61-0C4B-9A81-CB56-4C34C2E1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C2D225A-8208-1C95-93EA-D6216D994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4A55-68C2-4D29-9F8B-D2670FFEF0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288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93784C-1885-93F6-1D5F-FE147EAE3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531C9A7-F3C1-FCD3-57DA-95A713D6A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F172CA5-AB76-CEF1-3669-4BECD77F2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CEC7238-94F5-92F3-C601-5C5EEE98C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5040331-97A8-C409-35F2-BD13329E1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F7F9B21-0556-B3A8-B410-EC8C891C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BC5-3E05-41C6-969F-45A7E5AB22CC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D81494E-D6D0-E1EE-1530-FA47A971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E33D80E0-EA65-9B6E-C49C-40FAEDB4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4A55-68C2-4D29-9F8B-D2670FFEF0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384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04FD0D1-FCAB-041C-344E-F75E543AD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61F4284-4777-903E-8329-7A8E88710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BC5-3E05-41C6-969F-45A7E5AB22CC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97DF1A8-B856-BDF5-4D49-4A58DB92B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C56D5AB-4919-29E9-1CF8-25B02864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4A55-68C2-4D29-9F8B-D2670FFEF0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757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CB463B9-A4F5-429C-E481-B43777610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BC5-3E05-41C6-969F-45A7E5AB22CC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27170E99-023C-FFBA-5073-7827293B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00CEEC9-A7DB-6779-3C5C-EE08334B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4A55-68C2-4D29-9F8B-D2670FFEF0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23095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D00D89-B97A-DC00-1784-F3AE44A3A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EE329C6-C1C3-9AFC-7F02-A5832D849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B00F484-E9E8-11F9-C523-3D3AADFA3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36F48CE-5872-7562-8706-7972C563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BC5-3E05-41C6-969F-45A7E5AB22CC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E9005FC-19CF-EBA1-E196-879BAB7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B39356F-CAE0-B4CD-9124-8BD370C2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4A55-68C2-4D29-9F8B-D2670FFEF0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2152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526A6B7-5300-AFF9-2813-F7A786B8E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FAE059E9-3799-5267-D29F-04C0C0F6E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CDD7394-0123-3BD2-5524-7833EE2C5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381F6DD-3479-9B99-E9DB-5FA47FEC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BC5-3E05-41C6-969F-45A7E5AB22CC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12F1D1C-2004-0D51-7035-34A0B839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3C7C025-E97B-D970-A6AC-60000745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4A55-68C2-4D29-9F8B-D2670FFEF0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2681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E70796-B392-B0D4-6E14-E9D87710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283E3FA-89E8-41B6-A5B0-CB8086CB4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FC63CE4-A7ED-4777-6BAA-7A017BEFB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BC5-3E05-41C6-969F-45A7E5AB22CC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C56586D-0554-2896-02C3-40C12093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A84B6B7-834C-C7B9-A7BA-54C085AB0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4A55-68C2-4D29-9F8B-D2670FFEF0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12349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425C31FA-8822-D65C-3C9D-203A5AEBE5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1FB4049-9159-ECC2-F1FD-24AB11129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0A6024B-29A0-400D-7297-3C9986BB5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BC5-3E05-41C6-969F-45A7E5AB22CC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4135D0C-C4D2-78C9-5D51-F2AEA4834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8FAC6D3-49CA-5340-2A47-BB0157E9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4A55-68C2-4D29-9F8B-D2670FFEF0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3933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32B1F53-3D72-9ACB-50FD-94929072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8186AB3-8AAA-341A-BD07-B60B05D0B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5B81C6A-DAFF-1B1E-B636-F3CEF60ED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BBBC5-3E05-41C6-969F-45A7E5AB22CC}" type="datetimeFigureOut">
              <a:rPr lang="he-IL" smtClean="0"/>
              <a:t>ה'/אב/תשפ"ד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337BA51-B165-9763-35A0-48C577EED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B0542D2-3AA5-89F7-DA0D-C1B9A6B89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84A55-68C2-4D29-9F8B-D2670FFEF0C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8024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3D37ED46-FBB9-B7CF-7DB7-91239972B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335"/>
            <a:ext cx="12192000" cy="5812375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60D98DAC-351A-EF85-24B3-2CC8942A0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0077" y="418290"/>
            <a:ext cx="9144000" cy="856263"/>
          </a:xfrm>
        </p:spPr>
        <p:txBody>
          <a:bodyPr>
            <a:normAutofit fontScale="90000"/>
          </a:bodyPr>
          <a:lstStyle/>
          <a:p>
            <a:r>
              <a:rPr lang="he-IL" b="1" dirty="0">
                <a:solidFill>
                  <a:srgbClr val="8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זמן המתנה בתור לקופה בסופר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00AFA4E-1886-B3E8-6727-29C61F869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7550" y="5202238"/>
            <a:ext cx="5671227" cy="1655762"/>
          </a:xfrm>
        </p:spPr>
        <p:txBody>
          <a:bodyPr>
            <a:normAutofit/>
          </a:bodyPr>
          <a:lstStyle/>
          <a:p>
            <a:pPr algn="r"/>
            <a:r>
              <a:rPr lang="he-IL" b="1" dirty="0">
                <a:solidFill>
                  <a:srgbClr val="8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שם המגישות: נסרין </a:t>
            </a:r>
            <a:r>
              <a:rPr lang="he-IL" b="1" dirty="0" err="1">
                <a:solidFill>
                  <a:srgbClr val="8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סובח</a:t>
            </a:r>
            <a:r>
              <a:rPr lang="he-IL" b="1" dirty="0">
                <a:solidFill>
                  <a:srgbClr val="8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- 206707101</a:t>
            </a:r>
            <a:endParaRPr lang="en-US" b="1" dirty="0">
              <a:solidFill>
                <a:srgbClr val="8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/>
            <a:r>
              <a:rPr lang="en-US" b="1" dirty="0">
                <a:solidFill>
                  <a:srgbClr val="8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b="1" dirty="0">
                <a:solidFill>
                  <a:srgbClr val="8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                       שרה חמוד – 32304558              </a:t>
            </a:r>
          </a:p>
          <a:p>
            <a:pPr algn="r"/>
            <a:r>
              <a:rPr lang="he-IL" b="1" dirty="0">
                <a:solidFill>
                  <a:srgbClr val="8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                        </a:t>
            </a:r>
            <a:r>
              <a:rPr lang="he-IL" b="1" dirty="0" err="1">
                <a:solidFill>
                  <a:srgbClr val="8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אמאל</a:t>
            </a:r>
            <a:r>
              <a:rPr lang="he-IL" b="1" dirty="0">
                <a:solidFill>
                  <a:srgbClr val="8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נסר </a:t>
            </a:r>
            <a:r>
              <a:rPr lang="he-IL" b="1" dirty="0" err="1">
                <a:solidFill>
                  <a:srgbClr val="8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אלדין</a:t>
            </a:r>
            <a:r>
              <a:rPr lang="he-IL" b="1" dirty="0">
                <a:solidFill>
                  <a:srgbClr val="8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– 212716104</a:t>
            </a:r>
          </a:p>
        </p:txBody>
      </p:sp>
    </p:spTree>
    <p:extLst>
      <p:ext uri="{BB962C8B-B14F-4D97-AF65-F5344CB8AC3E}">
        <p14:creationId xmlns:p14="http://schemas.microsoft.com/office/powerpoint/2010/main" val="2524839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929F77-035B-CE63-1B1F-F25E5E1AF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155" y="320040"/>
            <a:ext cx="9433325" cy="5873035"/>
          </a:xfrm>
        </p:spPr>
        <p:txBody>
          <a:bodyPr vert="horz" lIns="91440" tIns="45720" rIns="91440" bIns="45720" rtlCol="0">
            <a:normAutofit/>
          </a:bodyPr>
          <a:lstStyle/>
          <a:p>
            <a:pPr marL="0" algn="r"/>
            <a:endParaRPr lang="en-US" sz="1700" dirty="0"/>
          </a:p>
          <a:p>
            <a:pPr algn="ctr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808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b="1" dirty="0" err="1">
                <a:solidFill>
                  <a:srgbClr val="00808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סקר</a:t>
            </a:r>
            <a:r>
              <a:rPr lang="en-US" b="1" dirty="0">
                <a:solidFill>
                  <a:srgbClr val="00808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b="1" dirty="0" err="1">
                <a:solidFill>
                  <a:srgbClr val="00808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ספרות</a:t>
            </a:r>
            <a:r>
              <a:rPr lang="en-US" b="1" dirty="0">
                <a:solidFill>
                  <a:srgbClr val="00808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pPr marL="0" indent="0" algn="ctr">
              <a:buNone/>
            </a:pP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מחקר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מצא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כי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לקבוצה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גדולה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מאוד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של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אנשים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יש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קושי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להיות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אחרונים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בתור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בסופר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.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החוקרים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בחנו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מידת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הסבלנות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של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קונים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וגילו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כי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במקרה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שאדם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מגיע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והוא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האחרון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בתור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יש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לו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סיכויים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של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פי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ארבעה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להתייאש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לוותר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על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הקנייה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וללכת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וסיכויים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של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פי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שניים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לעבור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תור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. </a:t>
            </a:r>
          </a:p>
          <a:p>
            <a:pPr marL="0" indent="0" algn="ctr">
              <a:buNone/>
            </a:pP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בכל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זאת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למרות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שמבחינה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סטטיסטית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טהורה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גילו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החוקרים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כי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מעבר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תור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יאריך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זמן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השהות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עד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הקופה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ב10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אחוז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ומעבר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של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2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תורים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יגרום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לכך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שבממוצע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תגיע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לקופה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67%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מאוחר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יותר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ביחס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לתור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הראשון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שלך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. </a:t>
            </a:r>
          </a:p>
          <a:p>
            <a:pPr marL="0" algn="r"/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algn="r"/>
            <a:endParaRPr lang="en-US" sz="1700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131A7CE9-83E7-9C7E-4986-CF905C886FCB}"/>
              </a:ext>
            </a:extLst>
          </p:cNvPr>
          <p:cNvSpPr txBox="1"/>
          <p:nvPr/>
        </p:nvSpPr>
        <p:spPr>
          <a:xfrm>
            <a:off x="3327662" y="4295201"/>
            <a:ext cx="5849689" cy="379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457200" algn="ctr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b="1" dirty="0" err="1">
                <a:solidFill>
                  <a:srgbClr val="00808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מטרת</a:t>
            </a:r>
            <a:r>
              <a:rPr lang="en-US" sz="2800" b="1" dirty="0">
                <a:solidFill>
                  <a:srgbClr val="00808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800" b="1" dirty="0" err="1">
                <a:solidFill>
                  <a:srgbClr val="00808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הפרויקט</a:t>
            </a:r>
            <a:r>
              <a:rPr lang="en-US" sz="2800" b="1" dirty="0">
                <a:solidFill>
                  <a:srgbClr val="00808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חקירת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זמן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המתנה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בתור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שלוקח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ללקוח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בסופרמרקט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בישראל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59FA83BA-75D3-5553-3102-8F83A22B2B61}"/>
              </a:ext>
            </a:extLst>
          </p:cNvPr>
          <p:cNvSpPr txBox="1"/>
          <p:nvPr/>
        </p:nvSpPr>
        <p:spPr>
          <a:xfrm>
            <a:off x="3599645" y="5714210"/>
            <a:ext cx="4992710" cy="7232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https://www.israelhayom.co.il/article/524385 </a:t>
            </a:r>
          </a:p>
        </p:txBody>
      </p:sp>
    </p:spTree>
    <p:extLst>
      <p:ext uri="{BB962C8B-B14F-4D97-AF65-F5344CB8AC3E}">
        <p14:creationId xmlns:p14="http://schemas.microsoft.com/office/powerpoint/2010/main" val="4109929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B310ABE-8338-0E3F-2EEC-48696E5E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633051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0"/>
            <a:r>
              <a:rPr lang="en-US" sz="4800" b="1" kern="1200" dirty="0" err="1">
                <a:solidFill>
                  <a:schemeClr val="accent5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הגדרת</a:t>
            </a:r>
            <a:r>
              <a:rPr lang="en-US" sz="4800" b="1" kern="1200" dirty="0">
                <a:solidFill>
                  <a:schemeClr val="accent5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4800" b="1" kern="1200" dirty="0" err="1">
                <a:solidFill>
                  <a:schemeClr val="accent5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משתנים</a:t>
            </a:r>
            <a:endParaRPr lang="en-US" sz="4800" b="1" kern="1200" dirty="0">
              <a:solidFill>
                <a:schemeClr val="accent5">
                  <a:lumMod val="75000"/>
                </a:schemeClr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C5780216-12F4-B466-3265-7F802CCD0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14919"/>
              </p:ext>
            </p:extLst>
          </p:nvPr>
        </p:nvGraphicFramePr>
        <p:xfrm>
          <a:off x="723900" y="2497262"/>
          <a:ext cx="10744200" cy="3662042"/>
        </p:xfrm>
        <a:graphic>
          <a:graphicData uri="http://schemas.openxmlformats.org/drawingml/2006/table">
            <a:tbl>
              <a:tblPr rtl="1" firstRow="1" bandRow="1">
                <a:tableStyleId>{BC89EF96-8CEA-46FF-86C4-4CE0E7609802}</a:tableStyleId>
              </a:tblPr>
              <a:tblGrid>
                <a:gridCol w="5205351">
                  <a:extLst>
                    <a:ext uri="{9D8B030D-6E8A-4147-A177-3AD203B41FA5}">
                      <a16:colId xmlns:a16="http://schemas.microsoft.com/office/drawing/2014/main" val="2248800705"/>
                    </a:ext>
                  </a:extLst>
                </a:gridCol>
                <a:gridCol w="5538849">
                  <a:extLst>
                    <a:ext uri="{9D8B030D-6E8A-4147-A177-3AD203B41FA5}">
                      <a16:colId xmlns:a16="http://schemas.microsoft.com/office/drawing/2014/main" val="3113422465"/>
                    </a:ext>
                  </a:extLst>
                </a:gridCol>
              </a:tblGrid>
              <a:tr h="999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he-IL" sz="3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David" panose="020E0502060401010101" pitchFamily="34" charset="-79"/>
                          <a:ea typeface="+mn-ea"/>
                          <a:cs typeface="David" panose="020E0502060401010101" pitchFamily="34" charset="-79"/>
                        </a:rPr>
                        <a:t>משתנים שמיים 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he-IL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David" panose="020E0502060401010101" pitchFamily="34" charset="-79"/>
                          <a:ea typeface="+mn-ea"/>
                          <a:cs typeface="David" panose="020E0502060401010101" pitchFamily="34" charset="-79"/>
                        </a:rPr>
                        <a:t> </a:t>
                      </a:r>
                    </a:p>
                  </a:txBody>
                  <a:tcPr marL="79026" marR="79026" marT="39513" marB="39513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310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משתנים רציפים </a:t>
                      </a:r>
                    </a:p>
                  </a:txBody>
                  <a:tcPr marL="79026" marR="79026" marT="39513" marB="39513"/>
                </a:tc>
                <a:extLst>
                  <a:ext uri="{0D108BD9-81ED-4DB2-BD59-A6C34878D82A}">
                    <a16:rowId xmlns:a16="http://schemas.microsoft.com/office/drawing/2014/main" val="1427826873"/>
                  </a:ext>
                </a:extLst>
              </a:tr>
              <a:tr h="84876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he-IL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David" panose="020E0502060401010101" pitchFamily="34" charset="-79"/>
                          <a:ea typeface="+mn-ea"/>
                          <a:cs typeface="David" panose="020E0502060401010101" pitchFamily="34" charset="-79"/>
                        </a:rPr>
                        <a:t>משמרת (בוקר 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David" panose="020E0502060401010101" pitchFamily="34" charset="-79"/>
                          <a:ea typeface="+mn-ea"/>
                          <a:cs typeface="David" panose="020E0502060401010101" pitchFamily="34" charset="-79"/>
                        </a:rPr>
                        <a:t>2</a:t>
                      </a:r>
                      <a:r>
                        <a:rPr kumimoji="0" lang="he-IL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David" panose="020E0502060401010101" pitchFamily="34" charset="-79"/>
                          <a:ea typeface="+mn-ea"/>
                          <a:cs typeface="David" panose="020E0502060401010101" pitchFamily="34" charset="-79"/>
                        </a:rPr>
                        <a:t>/ ערב 1) – </a:t>
                      </a:r>
                      <a:r>
                        <a:rPr kumimoji="0" lang="he-IL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David" panose="020E0502060401010101" pitchFamily="34" charset="-79"/>
                          <a:ea typeface="+mn-ea"/>
                          <a:cs typeface="David" panose="020E0502060401010101" pitchFamily="34" charset="-79"/>
                        </a:rPr>
                        <a:t>ב"ת</a:t>
                      </a:r>
                      <a:r>
                        <a:rPr kumimoji="0" lang="he-IL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David" panose="020E0502060401010101" pitchFamily="34" charset="-79"/>
                          <a:ea typeface="+mn-ea"/>
                          <a:cs typeface="David" panose="020E0502060401010101" pitchFamily="34" charset="-79"/>
                        </a:rPr>
                        <a:t>  - עמודה</a:t>
                      </a:r>
                    </a:p>
                  </a:txBody>
                  <a:tcPr marL="79026" marR="79026" marT="39513" marB="39513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b="1" u="sng" dirty="0">
                          <a:highlight>
                            <a:srgbClr val="99CCFF"/>
                          </a:highlight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זמן המתנה בתור לקופה ( המשתנה הנחקר)</a:t>
                      </a:r>
                    </a:p>
                    <a:p>
                      <a:pPr rtl="1"/>
                      <a:endParaRPr lang="he-IL" sz="24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79026" marR="79026" marT="39513" marB="39513"/>
                </a:tc>
                <a:extLst>
                  <a:ext uri="{0D108BD9-81ED-4DB2-BD59-A6C34878D82A}">
                    <a16:rowId xmlns:a16="http://schemas.microsoft.com/office/drawing/2014/main" val="4041094768"/>
                  </a:ext>
                </a:extLst>
              </a:tr>
              <a:tr h="90691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he-IL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David" panose="020E0502060401010101" pitchFamily="34" charset="-79"/>
                          <a:ea typeface="+mn-ea"/>
                          <a:cs typeface="David" panose="020E0502060401010101" pitchFamily="34" charset="-79"/>
                        </a:rPr>
                        <a:t> מיקום הסופר (צפון 1/ דרום 2/ מרכז 3)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he-IL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David" panose="020E0502060401010101" pitchFamily="34" charset="-79"/>
                        <a:ea typeface="+mn-ea"/>
                        <a:cs typeface="David" panose="020E0502060401010101" pitchFamily="34" charset="-79"/>
                      </a:endParaRPr>
                    </a:p>
                  </a:txBody>
                  <a:tcPr marL="79026" marR="79026" marT="39513" marB="39513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גיל הקופאית</a:t>
                      </a:r>
                    </a:p>
                  </a:txBody>
                  <a:tcPr marL="79026" marR="79026" marT="39513" marB="39513"/>
                </a:tc>
                <a:extLst>
                  <a:ext uri="{0D108BD9-81ED-4DB2-BD59-A6C34878D82A}">
                    <a16:rowId xmlns:a16="http://schemas.microsoft.com/office/drawing/2014/main" val="2363543139"/>
                  </a:ext>
                </a:extLst>
              </a:tr>
              <a:tr h="90691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he-IL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David" panose="020E0502060401010101" pitchFamily="34" charset="-79"/>
                          <a:ea typeface="+mn-ea"/>
                          <a:cs typeface="David" panose="020E0502060401010101" pitchFamily="34" charset="-79"/>
                        </a:rPr>
                        <a:t>  העונה (קיץ, חורף)</a:t>
                      </a:r>
                    </a:p>
                  </a:txBody>
                  <a:tcPr marL="79026" marR="79026" marT="39513" marB="39513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וותק הקופאית</a:t>
                      </a:r>
                    </a:p>
                  </a:txBody>
                  <a:tcPr marL="79026" marR="79026" marT="39513" marB="39513"/>
                </a:tc>
                <a:extLst>
                  <a:ext uri="{0D108BD9-81ED-4DB2-BD59-A6C34878D82A}">
                    <a16:rowId xmlns:a16="http://schemas.microsoft.com/office/drawing/2014/main" val="179442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76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C9E644-D358-23A6-93C0-0883B665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936" y="59363"/>
            <a:ext cx="10515600" cy="1325563"/>
          </a:xfrm>
        </p:spPr>
        <p:txBody>
          <a:bodyPr/>
          <a:lstStyle/>
          <a:p>
            <a:r>
              <a:rPr lang="he-IL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סטטיסטיקה תיאורית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5E551A7-E3B8-F059-09F8-20190265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900" y="1562100"/>
            <a:ext cx="4914900" cy="46148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e-IL" sz="1800" dirty="0"/>
          </a:p>
          <a:p>
            <a:pPr marL="0" indent="0">
              <a:buNone/>
            </a:pPr>
            <a:endParaRPr lang="he-IL" sz="1800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3A5D19F4-C8D8-8658-E606-07974C1E6C9B}"/>
              </a:ext>
            </a:extLst>
          </p:cNvPr>
          <p:cNvSpPr txBox="1"/>
          <p:nvPr/>
        </p:nvSpPr>
        <p:spPr>
          <a:xfrm>
            <a:off x="1409700" y="1562100"/>
            <a:ext cx="5029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 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E07994F-0E96-965E-45D5-B053363AD768}"/>
              </a:ext>
            </a:extLst>
          </p:cNvPr>
          <p:cNvSpPr txBox="1"/>
          <p:nvPr/>
        </p:nvSpPr>
        <p:spPr>
          <a:xfrm>
            <a:off x="7263948" y="1579073"/>
            <a:ext cx="4798636" cy="40626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b="1" dirty="0">
                <a:solidFill>
                  <a:schemeClr val="tx2">
                    <a:lumMod val="75000"/>
                    <a:lumOff val="25000"/>
                  </a:schemeClr>
                </a:solidFill>
                <a:cs typeface="+mj-cs"/>
              </a:rPr>
              <a:t>מדדי מיקום:</a:t>
            </a:r>
          </a:p>
          <a:p>
            <a:pPr marL="342900" indent="-342900" algn="r">
              <a:buAutoNum type="arabicParenR"/>
            </a:pPr>
            <a:r>
              <a:rPr lang="he-IL" sz="2400" dirty="0">
                <a:cs typeface="+mj-cs"/>
              </a:rPr>
              <a:t>ממוצע מדגמי (</a:t>
            </a:r>
            <a:r>
              <a:rPr lang="en-US" sz="2400" dirty="0">
                <a:cs typeface="+mj-cs"/>
              </a:rPr>
              <a:t>Mean</a:t>
            </a:r>
            <a:r>
              <a:rPr lang="he-IL" sz="2400" dirty="0">
                <a:cs typeface="+mj-cs"/>
              </a:rPr>
              <a:t>): 10.2006</a:t>
            </a:r>
          </a:p>
          <a:p>
            <a:pPr marL="342900" indent="-342900" algn="r">
              <a:buAutoNum type="arabicParenR"/>
            </a:pPr>
            <a:r>
              <a:rPr lang="he-IL" sz="2400" dirty="0">
                <a:cs typeface="+mj-cs"/>
              </a:rPr>
              <a:t>שכיח מדגמי (</a:t>
            </a:r>
            <a:r>
              <a:rPr lang="en-US" sz="2400" dirty="0">
                <a:cs typeface="+mj-cs"/>
              </a:rPr>
              <a:t>Mode</a:t>
            </a:r>
            <a:r>
              <a:rPr lang="he-IL" sz="2400" dirty="0">
                <a:cs typeface="+mj-cs"/>
              </a:rPr>
              <a:t>): 8.50 </a:t>
            </a:r>
          </a:p>
          <a:p>
            <a:pPr marL="342900" indent="-342900" algn="r">
              <a:buAutoNum type="arabicParenR"/>
            </a:pPr>
            <a:r>
              <a:rPr lang="he-IL" sz="2400" dirty="0">
                <a:cs typeface="+mj-cs"/>
              </a:rPr>
              <a:t>חציון מדגמי(</a:t>
            </a:r>
            <a:r>
              <a:rPr lang="en-US" sz="2400" dirty="0">
                <a:cs typeface="+mj-cs"/>
              </a:rPr>
              <a:t>Median</a:t>
            </a:r>
            <a:r>
              <a:rPr lang="he-IL" sz="2400" dirty="0">
                <a:cs typeface="+mj-cs"/>
              </a:rPr>
              <a:t>): 10.0000</a:t>
            </a:r>
          </a:p>
          <a:p>
            <a:pPr algn="r"/>
            <a:endParaRPr lang="he-IL" sz="2400" dirty="0">
              <a:cs typeface="+mj-cs"/>
            </a:endParaRPr>
          </a:p>
          <a:p>
            <a:pPr algn="r"/>
            <a:r>
              <a:rPr lang="he-IL" sz="2400" b="1" dirty="0">
                <a:solidFill>
                  <a:schemeClr val="tx2">
                    <a:lumMod val="75000"/>
                    <a:lumOff val="25000"/>
                  </a:schemeClr>
                </a:solidFill>
                <a:cs typeface="+mj-cs"/>
              </a:rPr>
              <a:t>מדדי פיזור:</a:t>
            </a:r>
          </a:p>
          <a:p>
            <a:pPr marL="342900" indent="-342900" algn="r">
              <a:buAutoNum type="arabicParenR"/>
            </a:pPr>
            <a:r>
              <a:rPr lang="he-IL" sz="2400" dirty="0">
                <a:cs typeface="+mj-cs"/>
              </a:rPr>
              <a:t>טווח מדגמי (</a:t>
            </a:r>
            <a:r>
              <a:rPr lang="en-US" sz="2400" dirty="0">
                <a:cs typeface="+mj-cs"/>
              </a:rPr>
              <a:t>Range</a:t>
            </a:r>
            <a:r>
              <a:rPr lang="he-IL" sz="2400" dirty="0">
                <a:cs typeface="+mj-cs"/>
              </a:rPr>
              <a:t>): 18.00</a:t>
            </a:r>
          </a:p>
          <a:p>
            <a:pPr marL="342900" indent="-342900" algn="r">
              <a:buAutoNum type="arabicParenR"/>
            </a:pPr>
            <a:r>
              <a:rPr lang="he-IL" sz="2400" dirty="0">
                <a:cs typeface="+mj-cs"/>
              </a:rPr>
              <a:t>שונות מדגמית (</a:t>
            </a:r>
            <a:r>
              <a:rPr lang="en-US" sz="2400" dirty="0">
                <a:cs typeface="+mj-cs"/>
              </a:rPr>
              <a:t>Variance</a:t>
            </a:r>
            <a:r>
              <a:rPr lang="he-IL" sz="2400" dirty="0">
                <a:cs typeface="+mj-cs"/>
              </a:rPr>
              <a:t>): 14.772</a:t>
            </a:r>
          </a:p>
          <a:p>
            <a:pPr marL="342900" indent="-342900" algn="r">
              <a:buAutoNum type="arabicParenR"/>
            </a:pPr>
            <a:r>
              <a:rPr lang="he-IL" sz="2400" dirty="0">
                <a:cs typeface="+mj-cs"/>
              </a:rPr>
              <a:t>סטית תקן מדגמית (</a:t>
            </a:r>
            <a:r>
              <a:rPr lang="en-US" sz="2400" dirty="0" err="1">
                <a:cs typeface="+mj-cs"/>
              </a:rPr>
              <a:t>Std.Deviation</a:t>
            </a:r>
            <a:r>
              <a:rPr lang="he-IL" sz="2400" dirty="0">
                <a:cs typeface="+mj-cs"/>
              </a:rPr>
              <a:t>): 3.84343</a:t>
            </a:r>
          </a:p>
          <a:p>
            <a:pPr marL="342900" indent="-342900" algn="r">
              <a:buAutoNum type="arabicParenR"/>
            </a:pPr>
            <a:endParaRPr lang="he-IL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E6CF5326-5711-5462-82F4-286331C0C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"/>
            <a:ext cx="5925826" cy="3493311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1A8ED3CD-7259-2E46-C6B2-3AD497AB6B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27" r="25734"/>
          <a:stretch/>
        </p:blipFill>
        <p:spPr>
          <a:xfrm>
            <a:off x="5330140" y="799333"/>
            <a:ext cx="2344040" cy="4907705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B09A9395-A732-1DC8-8D53-D75E1153DE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00"/>
          <a:stretch/>
        </p:blipFill>
        <p:spPr>
          <a:xfrm>
            <a:off x="134921" y="3744333"/>
            <a:ext cx="4914901" cy="3103133"/>
          </a:xfrm>
          <a:prstGeom prst="rect">
            <a:avLst/>
          </a:prstGeom>
        </p:spPr>
      </p:pic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796395AB-680A-3376-1A91-83459FAA269E}"/>
              </a:ext>
            </a:extLst>
          </p:cNvPr>
          <p:cNvSpPr txBox="1"/>
          <p:nvPr/>
        </p:nvSpPr>
        <p:spPr>
          <a:xfrm>
            <a:off x="46141" y="3493716"/>
            <a:ext cx="50924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200" dirty="0"/>
              <a:t>דיאגרמת קופסא עבור המשתנה הנחקר שלנו: ניתן לראות כי קיבלנו דיאגרמה סימטרית אשר הממוצע של המשתנה נמצא במרכז הקופסא וכי יש התאמה להתפלגות נורמאלית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C14475DA-2BC3-EE52-7710-01207873B899}"/>
              </a:ext>
            </a:extLst>
          </p:cNvPr>
          <p:cNvSpPr txBox="1"/>
          <p:nvPr/>
        </p:nvSpPr>
        <p:spPr>
          <a:xfrm>
            <a:off x="0" y="356887"/>
            <a:ext cx="44179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200" dirty="0"/>
              <a:t>התפלגות פעמון עבור המשתנה הנחקר </a:t>
            </a:r>
          </a:p>
          <a:p>
            <a:r>
              <a:rPr lang="he-IL" sz="1200" dirty="0"/>
              <a:t>שלנו: ניתן לראות כי קיבלנו התפלגות בצורת פעמון  המתאפיינת בהתפלגות נורמאלית</a:t>
            </a:r>
          </a:p>
        </p:txBody>
      </p: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B1105CF6-BD47-531B-324C-51DAC3DF3565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5329947" cy="2785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E9DE0178-0DA5-3E94-F9A6-ED9D60CB6AC2}"/>
              </a:ext>
            </a:extLst>
          </p:cNvPr>
          <p:cNvCxnSpPr>
            <a:cxnSpLocks/>
          </p:cNvCxnSpPr>
          <p:nvPr/>
        </p:nvCxnSpPr>
        <p:spPr>
          <a:xfrm>
            <a:off x="5329947" y="0"/>
            <a:ext cx="0" cy="6858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408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8D3574-C9DF-7972-2D89-08968FB76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725"/>
            <a:ext cx="10515600" cy="1325563"/>
          </a:xfrm>
        </p:spPr>
        <p:txBody>
          <a:bodyPr/>
          <a:lstStyle/>
          <a:p>
            <a:pPr algn="ctr"/>
            <a:r>
              <a:rPr lang="he-IL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רווח סמך לתוחלת</a:t>
            </a:r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DDA22200-D5D7-247E-8091-8EA859B1B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3893" y="1481769"/>
            <a:ext cx="6525006" cy="3231642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D21C6818-B079-D0D0-3ED0-5886B931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082" y="5135799"/>
            <a:ext cx="5273040" cy="15224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EBC4D531-153A-7933-9C41-4455F8F13D82}"/>
                  </a:ext>
                </a:extLst>
              </p:cNvPr>
              <p:cNvSpPr txBox="1"/>
              <p:nvPr/>
            </p:nvSpPr>
            <p:spPr>
              <a:xfrm>
                <a:off x="1" y="1464955"/>
                <a:ext cx="6908646" cy="53621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he-IL" sz="2000" dirty="0">
                    <a:cs typeface="+mj-cs"/>
                  </a:rPr>
                  <a:t>על מנת לקבל אינדיקציה ראשונית אודות זמן ההמתנה בתור לקופה </a:t>
                </a:r>
              </a:p>
              <a:p>
                <a:pPr algn="r"/>
                <a:r>
                  <a:rPr lang="he-IL" sz="2000" dirty="0">
                    <a:cs typeface="+mj-cs"/>
                  </a:rPr>
                  <a:t>בסופר, נבצע אמידה מרווחית למשתנה זמן התמנה בתור.</a:t>
                </a:r>
              </a:p>
              <a:p>
                <a:pPr algn="r"/>
                <a:r>
                  <a:rPr lang="he-IL" sz="2000" dirty="0">
                    <a:cs typeface="+mj-cs"/>
                  </a:rPr>
                  <a:t>תחילה, נבדוק את התקיימותה של הנחת הנורמאליות:  </a:t>
                </a: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+mj-cs"/>
                        </a:rPr>
                        <m:t>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+mj-cs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+mj-cs"/>
                        </a:rPr>
                        <m:t>: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+mj-cs"/>
                        </a:rPr>
                        <m:t>𝑊𝑎𝑖𝑡𝑖𝑛𝑔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+mj-cs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+mj-cs"/>
                        </a:rPr>
                        <m:t>𝑡𝑖𝑚𝑒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+mj-cs"/>
                        </a:rPr>
                        <m:t> 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  <m:t>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sz="2000" b="0" dirty="0">
                  <a:ea typeface="Cambria Math" panose="02040503050406030204" pitchFamily="18" charset="0"/>
                  <a:cs typeface="+mj-cs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:</m:t>
                      </m:r>
                      <m:r>
                        <a:rPr lang="he-IL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אחר</m:t>
                      </m:r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  <a:cs typeface="+mj-cs"/>
                </a:endParaRPr>
              </a:p>
              <a:p>
                <a:pPr algn="r"/>
                <a:endParaRPr lang="he-IL" sz="2000" dirty="0">
                  <a:cs typeface="+mj-cs"/>
                </a:endParaRPr>
              </a:p>
              <a:p>
                <a:pPr algn="r"/>
                <a:r>
                  <a:rPr lang="he-IL" sz="2000" dirty="0">
                    <a:cs typeface="+mj-cs"/>
                  </a:rPr>
                  <a:t>כלל ההחלטה: נדחה את השערת האפס אם </a:t>
                </a:r>
                <a14:m>
                  <m:oMath xmlns:m="http://schemas.openxmlformats.org/officeDocument/2006/math">
                    <m:r>
                      <a:rPr lang="he-IL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𝛼</m:t>
                    </m:r>
                    <m:r>
                      <a:rPr lang="he-IL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he-IL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  <m:r>
                      <a:rPr lang="he-IL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.</m:t>
                    </m:r>
                    <m:r>
                      <a:rPr lang="he-IL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05</m:t>
                    </m:r>
                    <m:r>
                      <a:rPr lang="he-IL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𝑝𝑣𝑎𝑙𝑢𝑒</m:t>
                    </m:r>
                  </m:oMath>
                </a14:m>
                <a:r>
                  <a:rPr lang="he-IL" sz="2000" dirty="0">
                    <a:cs typeface="+mj-cs"/>
                  </a:rPr>
                  <a:t> </a:t>
                </a:r>
              </a:p>
              <a:p>
                <a:pPr algn="l" rtl="0"/>
                <a:r>
                  <a:rPr lang="en-US" sz="2000" dirty="0">
                    <a:cs typeface="+mj-cs"/>
                  </a:rPr>
                  <a:t>  </a:t>
                </a:r>
                <a:endParaRPr lang="he-IL" sz="2000" dirty="0">
                  <a:cs typeface="+mj-cs"/>
                </a:endParaRPr>
              </a:p>
              <a:p>
                <a:pPr algn="r"/>
                <a:r>
                  <a:rPr lang="he-IL" sz="2000" dirty="0">
                    <a:cs typeface="+mj-cs"/>
                  </a:rPr>
                  <a:t>מכיוון שקיבלנו </a:t>
                </a:r>
                <a14:m>
                  <m:oMath xmlns:m="http://schemas.openxmlformats.org/officeDocument/2006/math">
                    <m:r>
                      <a:rPr lang="he-IL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𝛼</m:t>
                    </m:r>
                    <m:r>
                      <a:rPr lang="he-IL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he-IL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  <m:r>
                      <a:rPr lang="he-IL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.</m:t>
                    </m:r>
                    <m:r>
                      <a:rPr lang="he-IL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05</m:t>
                    </m:r>
                    <m:r>
                      <a:rPr lang="he-IL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𝑝𝑣𝑎𝑙𝑢𝑒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sz="2000" dirty="0">
                    <a:cs typeface="+mj-cs"/>
                  </a:rPr>
                  <a:t>  </a:t>
                </a:r>
              </a:p>
              <a:p>
                <a:pPr algn="r"/>
                <a:r>
                  <a:rPr lang="he-IL" sz="2000" dirty="0">
                    <a:cs typeface="+mj-cs"/>
                  </a:rPr>
                  <a:t>(מצאנו לפי התוכנה </a:t>
                </a:r>
                <a:r>
                  <a:rPr lang="en-US" sz="2000" dirty="0" err="1">
                    <a:cs typeface="+mj-cs"/>
                  </a:rPr>
                  <a:t>spss</a:t>
                </a:r>
                <a:r>
                  <a:rPr lang="he-IL" sz="2000" dirty="0">
                    <a:cs typeface="+mj-cs"/>
                  </a:rPr>
                  <a:t>: </a:t>
                </a:r>
                <a:r>
                  <a:rPr lang="en-US" sz="2000" dirty="0">
                    <a:cs typeface="+mj-cs"/>
                  </a:rPr>
                  <a:t> </a:t>
                </a:r>
                <a:r>
                  <a:rPr lang="en-US" sz="2000" dirty="0" err="1">
                    <a:cs typeface="+mj-cs"/>
                  </a:rPr>
                  <a:t>pvalue</a:t>
                </a:r>
                <a:r>
                  <a:rPr lang="en-US" sz="2000" dirty="0">
                    <a:cs typeface="+mj-cs"/>
                  </a:rPr>
                  <a:t>=Sig </a:t>
                </a:r>
                <a:r>
                  <a:rPr lang="he-IL" sz="2000" dirty="0">
                    <a:cs typeface="+mj-cs"/>
                  </a:rPr>
                  <a:t>) </a:t>
                </a:r>
              </a:p>
              <a:p>
                <a:pPr algn="r"/>
                <a:r>
                  <a:rPr lang="he-IL" sz="2000" dirty="0">
                    <a:cs typeface="+mj-cs"/>
                  </a:rPr>
                  <a:t>אזי, לא נדחה את השערת האפס ונאמר כי המשתנה מתפלג נורמלית. </a:t>
                </a:r>
              </a:p>
              <a:p>
                <a:pPr algn="r"/>
                <a:r>
                  <a:rPr lang="he-IL" sz="2000" dirty="0">
                    <a:cs typeface="+mj-cs"/>
                  </a:rPr>
                  <a:t>מכאן ניתן לבדוק מהו רווח הסמך ,לאחר בדיקה קיבלנו כי רווח הסמך </a:t>
                </a:r>
              </a:p>
              <a:p>
                <a:r>
                  <a:rPr lang="he-IL" sz="2000" dirty="0">
                    <a:cs typeface="+mj-cs"/>
                  </a:rPr>
                  <a:t>הינו: 10.8065 ≥  </a:t>
                </a:r>
                <a14:m>
                  <m:oMath xmlns:m="http://schemas.openxmlformats.org/officeDocument/2006/math">
                    <m:r>
                      <a:rPr lang="he-IL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𝜇</m:t>
                    </m:r>
                  </m:oMath>
                </a14:m>
                <a:r>
                  <a:rPr lang="he-IL" sz="2000" dirty="0">
                    <a:cs typeface="+mj-cs"/>
                  </a:rPr>
                  <a:t>   ≥ 9.59574</a:t>
                </a:r>
              </a:p>
              <a:p>
                <a:pPr algn="r"/>
                <a:r>
                  <a:rPr lang="he-IL" sz="2000" dirty="0">
                    <a:cs typeface="+mj-cs"/>
                  </a:rPr>
                  <a:t>(מצאנו האינטרוול מתוכנת </a:t>
                </a:r>
                <a:r>
                  <a:rPr lang="en-US" sz="2000" dirty="0" err="1">
                    <a:cs typeface="+mj-cs"/>
                  </a:rPr>
                  <a:t>spss</a:t>
                </a:r>
                <a:r>
                  <a:rPr lang="en-US" sz="2000" dirty="0">
                    <a:cs typeface="+mj-cs"/>
                  </a:rPr>
                  <a:t> </a:t>
                </a:r>
                <a:r>
                  <a:rPr lang="he-IL" sz="2000" dirty="0">
                    <a:cs typeface="+mj-cs"/>
                  </a:rPr>
                  <a:t> לפי: </a:t>
                </a:r>
                <a:r>
                  <a:rPr lang="en-US" sz="2000" dirty="0">
                    <a:cs typeface="+mj-cs"/>
                  </a:rPr>
                  <a:t>Lower Bound &amp; Upper Bound</a:t>
                </a:r>
                <a:r>
                  <a:rPr lang="he-IL" sz="2000" dirty="0">
                    <a:cs typeface="+mj-cs"/>
                  </a:rPr>
                  <a:t> )</a:t>
                </a:r>
              </a:p>
              <a:p>
                <a:pPr algn="r"/>
                <a:r>
                  <a:rPr lang="he-IL" sz="2000" dirty="0">
                    <a:cs typeface="+mj-cs"/>
                  </a:rPr>
                  <a:t>מכאן נסיק כי בר"מ של 5% תוחלת זמן ההמתנה בתור לקופה בסופר תנוע בטווח 10.8065 ≥  𝜇   ≥ 9.59574.</a:t>
                </a:r>
              </a:p>
              <a:p>
                <a:pPr algn="r"/>
                <a:r>
                  <a:rPr lang="he-IL" sz="2000" dirty="0">
                    <a:cs typeface="+mj-cs"/>
                  </a:rPr>
                  <a:t> </a:t>
                </a:r>
              </a:p>
            </p:txBody>
          </p:sp>
        </mc:Choice>
        <mc:Fallback xmlns="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EBC4D531-153A-7933-9C41-4455F8F13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1464955"/>
                <a:ext cx="6908646" cy="5362109"/>
              </a:xfrm>
              <a:prstGeom prst="rect">
                <a:avLst/>
              </a:prstGeom>
              <a:blipFill>
                <a:blip r:embed="rId4"/>
                <a:stretch>
                  <a:fillRect t="-568" r="-883" b="-102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אליפסה 7">
            <a:extLst>
              <a:ext uri="{FF2B5EF4-FFF2-40B4-BE49-F238E27FC236}">
                <a16:creationId xmlns:a16="http://schemas.microsoft.com/office/drawing/2014/main" id="{F4825342-FE7D-7B26-4D62-CBEB42D95174}"/>
              </a:ext>
            </a:extLst>
          </p:cNvPr>
          <p:cNvSpPr/>
          <p:nvPr/>
        </p:nvSpPr>
        <p:spPr>
          <a:xfrm>
            <a:off x="9370243" y="2083324"/>
            <a:ext cx="980388" cy="5750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F782EF6B-1A16-800D-10F3-C81C03155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1548" y="5570940"/>
            <a:ext cx="538889" cy="42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0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04B2FD-AFD5-1C32-B51B-323030CC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530" y="268942"/>
            <a:ext cx="10515600" cy="1067255"/>
          </a:xfrm>
        </p:spPr>
        <p:txBody>
          <a:bodyPr>
            <a:normAutofit/>
          </a:bodyPr>
          <a:lstStyle/>
          <a:p>
            <a:pPr algn="l"/>
            <a:r>
              <a:rPr lang="he-IL" sz="4000" b="1" dirty="0">
                <a:solidFill>
                  <a:schemeClr val="accent1"/>
                </a:solidFill>
              </a:rPr>
              <a:t>בדיקת השערות על שתי אוכלוסיות בלתי תלויות </a:t>
            </a:r>
            <a:r>
              <a:rPr lang="he-IL" sz="4000" b="1" dirty="0" err="1">
                <a:solidFill>
                  <a:schemeClr val="accent1"/>
                </a:solidFill>
              </a:rPr>
              <a:t>ור"ס</a:t>
            </a:r>
            <a:r>
              <a:rPr lang="he-IL" sz="4000" b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D9130F8-7DE0-BEE9-FBE1-928903588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9627" y="64259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 </a:t>
            </a:r>
          </a:p>
          <a:p>
            <a:pPr marL="0" indent="0">
              <a:buNone/>
            </a:pPr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91145A-1252-423C-89D1-D8E9FF3AF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528" y="1594505"/>
            <a:ext cx="4562022" cy="2933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ACA2A3-0D58-4EDE-BC20-9778739394EB}"/>
              </a:ext>
            </a:extLst>
          </p:cNvPr>
          <p:cNvSpPr txBox="1"/>
          <p:nvPr/>
        </p:nvSpPr>
        <p:spPr>
          <a:xfrm>
            <a:off x="2993011" y="3153306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L" dirty="0"/>
          </a:p>
          <a:p>
            <a:r>
              <a:rPr lang="en-IL" dirty="0"/>
              <a:t>	</a:t>
            </a:r>
          </a:p>
          <a:p>
            <a:endParaRPr lang="en-IL" b="0" i="0" u="none" strike="noStrike" baseline="0" dirty="0">
              <a:latin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C9FB47-183B-4E77-8092-CEF2409A32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572"/>
          <a:stretch/>
        </p:blipFill>
        <p:spPr>
          <a:xfrm>
            <a:off x="8291905" y="4528205"/>
            <a:ext cx="3324225" cy="22409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73DADC7-A4B8-48E0-B26D-CF106EB7B214}"/>
              </a:ext>
            </a:extLst>
          </p:cNvPr>
          <p:cNvSpPr txBox="1"/>
          <p:nvPr/>
        </p:nvSpPr>
        <p:spPr>
          <a:xfrm>
            <a:off x="11149203" y="5040278"/>
            <a:ext cx="466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ighlight>
                  <a:srgbClr val="FFFF00"/>
                </a:highlight>
              </a:rPr>
              <a:t> </a:t>
            </a:r>
            <a:r>
              <a:rPr lang="he-IL" sz="1000" b="1" dirty="0">
                <a:highlight>
                  <a:srgbClr val="FFFF00"/>
                </a:highlight>
              </a:rPr>
              <a:t>ערב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7A2DE-F86A-4282-96A5-6A81449BC289}"/>
              </a:ext>
            </a:extLst>
          </p:cNvPr>
          <p:cNvSpPr txBox="1"/>
          <p:nvPr/>
        </p:nvSpPr>
        <p:spPr>
          <a:xfrm>
            <a:off x="10316018" y="5017274"/>
            <a:ext cx="466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ighlight>
                  <a:srgbClr val="FFFF00"/>
                </a:highlight>
              </a:rPr>
              <a:t> </a:t>
            </a:r>
            <a:r>
              <a:rPr lang="he-IL" sz="1000" b="1" dirty="0">
                <a:highlight>
                  <a:srgbClr val="FFFF00"/>
                </a:highlight>
              </a:rPr>
              <a:t>בוקר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3B7370-3C2A-450E-853C-160CDC078325}"/>
                  </a:ext>
                </a:extLst>
              </p:cNvPr>
              <p:cNvSpPr txBox="1"/>
              <p:nvPr/>
            </p:nvSpPr>
            <p:spPr>
              <a:xfrm>
                <a:off x="252392" y="1324216"/>
                <a:ext cx="7349136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:r>
                  <a:rPr lang="he-IL" sz="1400" b="1" u="sng" dirty="0">
                    <a:solidFill>
                      <a:srgbClr val="C00000"/>
                    </a:solidFill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הנחות המודל:</a:t>
                </a:r>
              </a:p>
              <a:p>
                <a:pPr algn="r" rtl="1"/>
                <a:r>
                  <a:rPr lang="he-IL" sz="1400" b="1" dirty="0">
                    <a:solidFill>
                      <a:schemeClr val="accent2"/>
                    </a:solidFill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1. </a:t>
                </a:r>
                <a:r>
                  <a:rPr lang="he-IL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ל</a:t>
                </a:r>
                <a:r>
                  <a:rPr lang="en-US" sz="1400" dirty="0" err="1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פי</a:t>
                </a:r>
                <a:r>
                  <a:rPr lang="en-US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מבחן </a:t>
                </a:r>
                <a:r>
                  <a:rPr lang="en-US" sz="1400" dirty="0" err="1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קולמגורוב-סמירנוב</a:t>
                </a:r>
                <a:r>
                  <a:rPr lang="en-US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</a:t>
                </a:r>
                <a:r>
                  <a:rPr lang="he-IL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קיבלנו כי 2 הקבוצות מתפלגות נורמלי </a:t>
                </a:r>
                <a:endParaRPr lang="en-US" sz="1400" dirty="0">
                  <a:latin typeface="David" panose="020E0502060401010101" pitchFamily="34" charset="-79"/>
                  <a:ea typeface="Cambria Math" panose="02040503050406030204" pitchFamily="18" charset="0"/>
                  <a:cs typeface="David" panose="020E0502060401010101" pitchFamily="34" charset="-79"/>
                </a:endParaRPr>
              </a:p>
              <a:p>
                <a:pPr marL="0" indent="0" algn="r">
                  <a:buNone/>
                </a:pPr>
                <a:r>
                  <a:rPr lang="en-US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 </a:t>
                </a:r>
                <a:r>
                  <a:rPr lang="en-US" sz="1400" dirty="0" err="1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Pvalue</a:t>
                </a:r>
                <a:r>
                  <a:rPr lang="en-US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(2) (sig) =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David" panose="020E0502060401010101" pitchFamily="34" charset="-79"/>
                      </a:rPr>
                      <m:t>0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David" panose="020E0502060401010101" pitchFamily="34" charset="-79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David" panose="020E0502060401010101" pitchFamily="34" charset="-79"/>
                      </a:rPr>
                      <m:t>067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David" panose="020E0502060401010101" pitchFamily="34" charset="-79"/>
                      </a:rPr>
                      <m:t>&gt;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David" panose="020E0502060401010101" pitchFamily="34" charset="-79"/>
                      </a:rPr>
                      <m:t>𝑎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David" panose="020E0502060401010101" pitchFamily="34" charset="-79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David" panose="020E0502060401010101" pitchFamily="34" charset="-79"/>
                      </a:rPr>
                      <m:t>0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David" panose="020E0502060401010101" pitchFamily="34" charset="-79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David" panose="020E0502060401010101" pitchFamily="34" charset="-79"/>
                      </a:rPr>
                      <m:t>05</m:t>
                    </m:r>
                  </m:oMath>
                </a14:m>
                <a:r>
                  <a:rPr lang="en-US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 &amp;  </a:t>
                </a:r>
                <a:r>
                  <a:rPr lang="en-US" sz="1400" dirty="0" err="1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Pvalue</a:t>
                </a:r>
                <a:r>
                  <a:rPr lang="en-US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(1) (sig) = 0.2 &gt;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05</m:t>
                    </m:r>
                    <m: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he-IL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עבור 2 הקבוצות</a:t>
                </a:r>
              </a:p>
              <a:p>
                <a:pPr marL="0" indent="0" algn="r" rtl="1">
                  <a:buNone/>
                </a:pPr>
                <a:endParaRPr lang="en-US" sz="1400" dirty="0">
                  <a:latin typeface="David" panose="020E0502060401010101" pitchFamily="34" charset="-79"/>
                  <a:ea typeface="Cambria Math" panose="02040503050406030204" pitchFamily="18" charset="0"/>
                  <a:cs typeface="David" panose="020E0502060401010101" pitchFamily="34" charset="-79"/>
                </a:endParaRPr>
              </a:p>
              <a:p>
                <a:pPr algn="r" rtl="1"/>
                <a:r>
                  <a:rPr lang="he-IL" sz="1400" b="1" dirty="0">
                    <a:solidFill>
                      <a:schemeClr val="accent6"/>
                    </a:solidFill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2.</a:t>
                </a:r>
                <a:r>
                  <a:rPr lang="en-US" sz="1400" b="1" dirty="0">
                    <a:solidFill>
                      <a:schemeClr val="accent6"/>
                    </a:solidFill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</a:t>
                </a:r>
                <a:r>
                  <a:rPr lang="en-US" sz="1400" dirty="0" err="1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לפי</a:t>
                </a:r>
                <a:r>
                  <a:rPr lang="en-US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</a:t>
                </a:r>
                <a:r>
                  <a:rPr lang="en-US" sz="1400" dirty="0" err="1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מבחן</a:t>
                </a:r>
                <a:r>
                  <a:rPr lang="en-US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</a:t>
                </a:r>
                <a:r>
                  <a:rPr lang="en-US" sz="1400" dirty="0" err="1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Levene</a:t>
                </a:r>
                <a:r>
                  <a:rPr lang="he-IL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</a:t>
                </a:r>
                <a:r>
                  <a:rPr lang="en-US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</a:t>
                </a:r>
                <a:r>
                  <a:rPr lang="en-US" sz="1400" dirty="0" err="1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קיבלנו</a:t>
                </a:r>
                <a:r>
                  <a:rPr lang="en-US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</a:t>
                </a:r>
                <a:r>
                  <a:rPr lang="he-IL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כי הנחת שוויון </a:t>
                </a:r>
                <a:r>
                  <a:rPr lang="he-IL" sz="1400" dirty="0" err="1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השונויות</a:t>
                </a:r>
                <a:r>
                  <a:rPr lang="he-IL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מתקיימת</a:t>
                </a:r>
                <a:endParaRPr lang="en-US" sz="1400" dirty="0">
                  <a:latin typeface="David" panose="020E0502060401010101" pitchFamily="34" charset="-79"/>
                  <a:ea typeface="Cambria Math" panose="02040503050406030204" pitchFamily="18" charset="0"/>
                  <a:cs typeface="David" panose="020E0502060401010101" pitchFamily="34" charset="-79"/>
                </a:endParaRPr>
              </a:p>
              <a:p>
                <a:pPr marL="285750" indent="-285750" algn="r" rtl="1"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Pvalue</a:t>
                </a:r>
                <a:r>
                  <a:rPr lang="en-US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(sig) = 0.627 &gt;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>
                    <a:latin typeface="David" panose="020E0502060401010101" pitchFamily="34" charset="-79"/>
                    <a:ea typeface="Cambria Math" panose="02040503050406030204" pitchFamily="18" charset="0"/>
                    <a:cs typeface="David" panose="020E0502060401010101" pitchFamily="34" charset="-79"/>
                  </a:rPr>
                  <a:t> = 0.05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3B7370-3C2A-450E-853C-160CDC078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92" y="1324216"/>
                <a:ext cx="7349136" cy="1384995"/>
              </a:xfrm>
              <a:prstGeom prst="rect">
                <a:avLst/>
              </a:prstGeom>
              <a:blipFill>
                <a:blip r:embed="rId4"/>
                <a:stretch>
                  <a:fillRect t="-881" r="-332" b="-440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4C5C18-B192-4E93-926D-9660489461D8}"/>
                  </a:ext>
                </a:extLst>
              </p:cNvPr>
              <p:cNvSpPr txBox="1"/>
              <p:nvPr/>
            </p:nvSpPr>
            <p:spPr>
              <a:xfrm>
                <a:off x="1468657" y="2756915"/>
                <a:ext cx="6096000" cy="832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r" rtl="1">
                  <a:buNone/>
                </a:pPr>
                <a:r>
                  <a:rPr lang="he-IL" sz="1400" b="1" u="sng" dirty="0">
                    <a:solidFill>
                      <a:srgbClr val="C00000"/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מערכת השערות חד צדדית ימנית:</a:t>
                </a:r>
              </a:p>
              <a:p>
                <a:pPr marL="0" indent="0" rtl="0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sz="1200" b="1" i="1" smtClean="0">
                            <a:latin typeface="Cambria Math" panose="02040503050406030204" pitchFamily="18" charset="0"/>
                            <a:cs typeface="David" panose="020E0502060401010101" pitchFamily="34" charset="-79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cs typeface="David" panose="020E0502060401010101" pitchFamily="34" charset="-79"/>
                          </a:rPr>
                          <m:t>                                           </m:t>
                        </m:r>
                        <m:r>
                          <a:rPr lang="en-US" sz="1200" b="1">
                            <a:latin typeface="Cambria Math"/>
                            <a:cs typeface="David" panose="020E0502060401010101" pitchFamily="34" charset="-79"/>
                          </a:rPr>
                          <m:t>𝐇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cs typeface="David" panose="020E0502060401010101" pitchFamily="34" charset="-79"/>
                          </a:rPr>
                          <m:t>𝟎</m:t>
                        </m:r>
                      </m:sub>
                    </m:sSub>
                    <m:r>
                      <a:rPr lang="he-IL" sz="1200" b="1" smtClean="0">
                        <a:latin typeface="Cambria Math"/>
                        <a:cs typeface="David" panose="020E0502060401010101" pitchFamily="34" charset="-79"/>
                      </a:rPr>
                      <m:t>: </m:t>
                    </m:r>
                    <m:sSub>
                      <m:sSubPr>
                        <m:ctrlPr>
                          <a:rPr lang="he-IL" sz="1200" b="1" i="1" smtClean="0">
                            <a:latin typeface="Cambria Math" panose="02040503050406030204" pitchFamily="18" charset="0"/>
                            <a:cs typeface="David" panose="020E0502060401010101" pitchFamily="34" charset="-79"/>
                          </a:rPr>
                        </m:ctrlPr>
                      </m:sSubPr>
                      <m:e>
                        <m:r>
                          <a:rPr lang="he-IL" sz="1200" b="1" i="1">
                            <a:latin typeface="Cambria Math"/>
                            <a:ea typeface="Cambria Math"/>
                            <a:cs typeface="David" panose="020E0502060401010101" pitchFamily="34" charset="-79"/>
                          </a:rPr>
                          <m:t>𝝁</m:t>
                        </m:r>
                      </m:e>
                      <m:sub>
                        <m:r>
                          <a:rPr lang="he-IL" sz="1200" b="1" i="1" smtClean="0">
                            <a:latin typeface="Cambria Math" panose="02040503050406030204" pitchFamily="18" charset="0"/>
                            <a:ea typeface="Cambria Math"/>
                            <a:cs typeface="David" panose="020E0502060401010101" pitchFamily="34" charset="-79"/>
                          </a:rPr>
                          <m:t>בוקר</m:t>
                        </m:r>
                      </m:sub>
                    </m:sSub>
                    <m:r>
                      <a:rPr lang="he-IL" sz="1200" b="1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−</m:t>
                    </m:r>
                    <m:sSub>
                      <m:sSubPr>
                        <m:ctrlPr>
                          <a:rPr lang="he-IL" sz="1200" b="1" i="1" smtClean="0">
                            <a:latin typeface="Cambria Math" panose="02040503050406030204" pitchFamily="18" charset="0"/>
                            <a:cs typeface="David" panose="020E0502060401010101" pitchFamily="34" charset="-79"/>
                          </a:rPr>
                        </m:ctrlPr>
                      </m:sSubPr>
                      <m:e>
                        <m:r>
                          <a:rPr lang="he-IL" sz="1200" b="1" i="1">
                            <a:latin typeface="Cambria Math"/>
                            <a:ea typeface="Cambria Math"/>
                            <a:cs typeface="David" panose="020E0502060401010101" pitchFamily="34" charset="-79"/>
                          </a:rPr>
                          <m:t>𝝁</m:t>
                        </m:r>
                      </m:e>
                      <m:sub>
                        <m:r>
                          <a:rPr lang="he-IL" sz="1200" b="1" i="1" smtClean="0">
                            <a:latin typeface="Cambria Math" panose="02040503050406030204" pitchFamily="18" charset="0"/>
                            <a:ea typeface="Cambria Math"/>
                            <a:cs typeface="David" panose="020E0502060401010101" pitchFamily="34" charset="-79"/>
                          </a:rPr>
                          <m:t> </m:t>
                        </m:r>
                        <m:r>
                          <a:rPr lang="he-IL" sz="1200" b="1" i="1" smtClean="0">
                            <a:latin typeface="Cambria Math" panose="02040503050406030204" pitchFamily="18" charset="0"/>
                            <a:ea typeface="Cambria Math"/>
                            <a:cs typeface="David" panose="020E0502060401010101" pitchFamily="34" charset="-79"/>
                          </a:rPr>
                          <m:t>ערב</m:t>
                        </m:r>
                      </m:sub>
                    </m:sSub>
                  </m:oMath>
                </a14:m>
                <a:r>
                  <a:rPr lang="he-IL" sz="1200" b="1" dirty="0">
                    <a:cs typeface="David" panose="020E0502060401010101" pitchFamily="34" charset="-79"/>
                  </a:rPr>
                  <a:t> =</a:t>
                </a:r>
                <a14:m>
                  <m:oMath xmlns:m="http://schemas.openxmlformats.org/officeDocument/2006/math">
                    <m:r>
                      <a:rPr lang="he-IL" sz="1200" b="1" i="0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 </m:t>
                    </m:r>
                    <m:r>
                      <a:rPr lang="he-IL" sz="1200" b="1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𝟎</m:t>
                    </m:r>
                  </m:oMath>
                </a14:m>
                <a:endParaRPr lang="he-IL" sz="1200" dirty="0">
                  <a:latin typeface="Cambria Math" panose="02040503050406030204" pitchFamily="18" charset="0"/>
                  <a:ea typeface="Cambria Math"/>
                  <a:cs typeface="David" panose="020E0502060401010101" pitchFamily="34" charset="-79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200" b="1" dirty="0">
                    <a:cs typeface="David" panose="020E0502060401010101" pitchFamily="34" charset="-79"/>
                  </a:rPr>
                  <a:t>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1200" b="1" i="1" smtClean="0">
                            <a:latin typeface="Cambria Math" panose="02040503050406030204" pitchFamily="18" charset="0"/>
                            <a:cs typeface="David" panose="020E0502060401010101" pitchFamily="34" charset="-79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cs typeface="David" panose="020E0502060401010101" pitchFamily="34" charset="-79"/>
                          </a:rPr>
                          <m:t> </m:t>
                        </m:r>
                        <m:r>
                          <a:rPr lang="en-US" sz="1200" b="1">
                            <a:latin typeface="Cambria Math"/>
                            <a:cs typeface="David" panose="020E0502060401010101" pitchFamily="34" charset="-79"/>
                          </a:rPr>
                          <m:t>𝐇</m:t>
                        </m:r>
                      </m:e>
                      <m:sub>
                        <m:r>
                          <a:rPr lang="en-US" sz="1200" b="1">
                            <a:latin typeface="Cambria Math"/>
                            <a:cs typeface="David" panose="020E0502060401010101" pitchFamily="34" charset="-79"/>
                          </a:rPr>
                          <m:t>𝟏</m:t>
                        </m:r>
                      </m:sub>
                    </m:sSub>
                    <m:r>
                      <a:rPr lang="he-IL" sz="1200" b="1">
                        <a:latin typeface="Cambria Math"/>
                        <a:cs typeface="David" panose="020E0502060401010101" pitchFamily="34" charset="-79"/>
                      </a:rPr>
                      <m:t>:</m:t>
                    </m:r>
                    <m:sSub>
                      <m:sSubPr>
                        <m:ctrlPr>
                          <a:rPr lang="he-IL" sz="1200" b="1" i="1">
                            <a:latin typeface="Cambria Math" panose="02040503050406030204" pitchFamily="18" charset="0"/>
                            <a:cs typeface="David" panose="020E0502060401010101" pitchFamily="34" charset="-79"/>
                          </a:rPr>
                        </m:ctrlPr>
                      </m:sSubPr>
                      <m:e>
                        <m:r>
                          <a:rPr lang="he-IL" sz="1200" b="1" i="1" smtClean="0">
                            <a:latin typeface="Cambria Math"/>
                            <a:ea typeface="Cambria Math"/>
                            <a:cs typeface="David" panose="020E0502060401010101" pitchFamily="34" charset="-79"/>
                          </a:rPr>
                          <m:t>𝝁</m:t>
                        </m:r>
                      </m:e>
                      <m:sub>
                        <m:r>
                          <a:rPr lang="he-IL" sz="1200" b="1" i="1" smtClean="0">
                            <a:latin typeface="Cambria Math" panose="02040503050406030204" pitchFamily="18" charset="0"/>
                            <a:ea typeface="Cambria Math"/>
                            <a:cs typeface="David" panose="020E0502060401010101" pitchFamily="34" charset="-79"/>
                          </a:rPr>
                          <m:t>וקר</m:t>
                        </m:r>
                        <m:r>
                          <a:rPr lang="he-IL" sz="1200" b="1" i="1" smtClean="0">
                            <a:latin typeface="Cambria Math" panose="02040503050406030204" pitchFamily="18" charset="0"/>
                            <a:ea typeface="Cambria Math"/>
                            <a:cs typeface="David" panose="020E0502060401010101" pitchFamily="34" charset="-79"/>
                          </a:rPr>
                          <m:t> </m:t>
                        </m:r>
                        <m:r>
                          <a:rPr lang="he-IL" sz="1200" b="1" i="1" smtClean="0">
                            <a:latin typeface="Cambria Math" panose="02040503050406030204" pitchFamily="18" charset="0"/>
                            <a:ea typeface="Cambria Math"/>
                            <a:cs typeface="David" panose="020E0502060401010101" pitchFamily="34" charset="-79"/>
                          </a:rPr>
                          <m:t>ב</m:t>
                        </m:r>
                      </m:sub>
                    </m:sSub>
                    <m:r>
                      <a:rPr lang="he-IL" sz="1200" b="1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−</m:t>
                    </m:r>
                    <m:sSub>
                      <m:sSubPr>
                        <m:ctrlPr>
                          <a:rPr lang="he-IL" sz="1200" b="1" i="1">
                            <a:latin typeface="Cambria Math" panose="02040503050406030204" pitchFamily="18" charset="0"/>
                            <a:cs typeface="David" panose="020E0502060401010101" pitchFamily="34" charset="-79"/>
                          </a:rPr>
                        </m:ctrlPr>
                      </m:sSubPr>
                      <m:e>
                        <m:r>
                          <a:rPr lang="he-IL" sz="1200" b="1" i="1">
                            <a:latin typeface="Cambria Math"/>
                            <a:ea typeface="Cambria Math"/>
                            <a:cs typeface="David" panose="020E0502060401010101" pitchFamily="34" charset="-79"/>
                          </a:rPr>
                          <m:t>𝝁</m:t>
                        </m:r>
                      </m:e>
                      <m:sub>
                        <m:r>
                          <a:rPr lang="he-IL" sz="1200" b="1" i="1" smtClean="0">
                            <a:latin typeface="Cambria Math" panose="02040503050406030204" pitchFamily="18" charset="0"/>
                            <a:ea typeface="Cambria Math"/>
                            <a:cs typeface="David" panose="020E0502060401010101" pitchFamily="34" charset="-79"/>
                          </a:rPr>
                          <m:t>ערב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&gt;</m:t>
                    </m:r>
                    <m:r>
                      <a:rPr lang="he-IL" sz="1200" b="1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𝟎</m:t>
                    </m:r>
                  </m:oMath>
                </a14:m>
                <a:endParaRPr lang="he-IL" sz="1200" b="1" dirty="0">
                  <a:latin typeface="David" panose="020E0502060401010101" pitchFamily="34" charset="-79"/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4C5C18-B192-4E93-926D-966048946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657" y="2756915"/>
                <a:ext cx="6096000" cy="832536"/>
              </a:xfrm>
              <a:prstGeom prst="rect">
                <a:avLst/>
              </a:prstGeom>
              <a:blipFill>
                <a:blip r:embed="rId5"/>
                <a:stretch>
                  <a:fillRect t="-730" r="-600" b="-146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BB0261-F770-4A3C-895C-1EEF54D2B57A}"/>
                  </a:ext>
                </a:extLst>
              </p:cNvPr>
              <p:cNvSpPr txBox="1"/>
              <p:nvPr/>
            </p:nvSpPr>
            <p:spPr>
              <a:xfrm>
                <a:off x="2455807" y="3715912"/>
                <a:ext cx="5413092" cy="7814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>
                  <a:spcAft>
                    <a:spcPts val="6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002</m:t>
                        </m:r>
                      </m:num>
                      <m:den>
                        <m:r>
                          <a:rPr lang="he-IL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001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&lt; 0.05 =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he-IL" sz="1400" dirty="0">
                    <a:solidFill>
                      <a:schemeClr val="tx1"/>
                    </a:solidFill>
                  </a:rPr>
                  <a:t> = </a:t>
                </a:r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Pvalue</m:t>
                    </m:r>
                    <m:r>
                      <a:rPr lang="en-US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𝑠𝑖𝑔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𝑡𝑎𝑖𝑙𝑒𝑑</m:t>
                            </m:r>
                          </m:e>
                        </m:d>
                      </m:num>
                      <m:den>
                        <m:r>
                          <a:rPr lang="he-I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he-IL" sz="1400" b="1" u="sng" dirty="0">
                  <a:solidFill>
                    <a:schemeClr val="tx1"/>
                  </a:solidFill>
                </a:endParaRPr>
              </a:p>
              <a:p>
                <a:pPr algn="ctr" rt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 sz="1400" dirty="0">
                  <a:solidFill>
                    <a:schemeClr val="tx1"/>
                  </a:solidFill>
                  <a:cs typeface="+mj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BB0261-F770-4A3C-895C-1EEF54D2B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807" y="3715912"/>
                <a:ext cx="5413092" cy="7814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1449CF0-604A-4D24-ABB8-9D09277B07FD}"/>
              </a:ext>
            </a:extLst>
          </p:cNvPr>
          <p:cNvSpPr txBox="1"/>
          <p:nvPr/>
        </p:nvSpPr>
        <p:spPr>
          <a:xfrm>
            <a:off x="1431786" y="4394107"/>
            <a:ext cx="6169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400" dirty="0">
                <a:highlight>
                  <a:srgbClr val="FFFF00"/>
                </a:highlight>
                <a:latin typeface="David" panose="020E0502060401010101" pitchFamily="34" charset="-79"/>
                <a:ea typeface="Cambria Math" panose="02040503050406030204" pitchFamily="18" charset="0"/>
                <a:cs typeface="David" panose="020E0502060401010101" pitchFamily="34" charset="-79"/>
              </a:rPr>
              <a:t>ולכן נדחה את השערת האפס ונקבע כי בר"מ 5% תוחלת זמן ההתנה בתור לקופה במשמרת בוקר </a:t>
            </a:r>
            <a:r>
              <a:rPr lang="he-IL" sz="1400" b="1" u="sng" dirty="0">
                <a:highlight>
                  <a:srgbClr val="FFFF00"/>
                </a:highlight>
                <a:latin typeface="David" panose="020E0502060401010101" pitchFamily="34" charset="-79"/>
                <a:ea typeface="Cambria Math" panose="02040503050406030204" pitchFamily="18" charset="0"/>
                <a:cs typeface="David" panose="020E0502060401010101" pitchFamily="34" charset="-79"/>
              </a:rPr>
              <a:t>גבוה יותר </a:t>
            </a:r>
            <a:r>
              <a:rPr lang="he-IL" sz="1400" dirty="0">
                <a:highlight>
                  <a:srgbClr val="FFFF00"/>
                </a:highlight>
                <a:latin typeface="David" panose="020E0502060401010101" pitchFamily="34" charset="-79"/>
                <a:ea typeface="Cambria Math" panose="02040503050406030204" pitchFamily="18" charset="0"/>
                <a:cs typeface="David" panose="020E0502060401010101" pitchFamily="34" charset="-79"/>
              </a:rPr>
              <a:t>מזו של משמרת ערב</a:t>
            </a:r>
            <a:endParaRPr lang="he-IL" sz="1400" dirty="0">
              <a:highlight>
                <a:srgbClr val="FFFF00"/>
              </a:highlight>
            </a:endParaRP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34280095-4CF7-5AED-9B86-3CCC41696D2A}"/>
              </a:ext>
            </a:extLst>
          </p:cNvPr>
          <p:cNvSpPr/>
          <p:nvPr/>
        </p:nvSpPr>
        <p:spPr>
          <a:xfrm>
            <a:off x="9596582" y="5898679"/>
            <a:ext cx="2019548" cy="16961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1BDAB81B-1B64-EFAC-29B8-1E4F02902E49}"/>
              </a:ext>
            </a:extLst>
          </p:cNvPr>
          <p:cNvSpPr/>
          <p:nvPr/>
        </p:nvSpPr>
        <p:spPr>
          <a:xfrm>
            <a:off x="8890866" y="2842659"/>
            <a:ext cx="2530764" cy="162209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2">
                <a:extLst>
                  <a:ext uri="{FF2B5EF4-FFF2-40B4-BE49-F238E27FC236}">
                    <a16:creationId xmlns:a16="http://schemas.microsoft.com/office/drawing/2014/main" id="{011025A5-B9E9-31D0-80A6-957599D6A97C}"/>
                  </a:ext>
                </a:extLst>
              </p:cNvPr>
              <p:cNvSpPr txBox="1"/>
              <p:nvPr/>
            </p:nvSpPr>
            <p:spPr>
              <a:xfrm>
                <a:off x="346980" y="5098029"/>
                <a:ext cx="7448448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sz="1400" b="1" u="sng" dirty="0">
                    <a:solidFill>
                      <a:srgbClr val="C00000"/>
                    </a:solidFill>
                    <a:cs typeface="+mj-cs"/>
                  </a:rPr>
                  <a:t>רווח סמך להפרש </a:t>
                </a:r>
                <a:r>
                  <a:rPr lang="he-IL" sz="1400" b="1" u="sng" dirty="0" err="1">
                    <a:solidFill>
                      <a:srgbClr val="C00000"/>
                    </a:solidFill>
                    <a:cs typeface="+mj-cs"/>
                  </a:rPr>
                  <a:t>התוחלות</a:t>
                </a:r>
                <a:r>
                  <a:rPr lang="he-IL" sz="1400" b="1" u="sng" dirty="0">
                    <a:solidFill>
                      <a:srgbClr val="C00000"/>
                    </a:solidFill>
                    <a:cs typeface="+mj-cs"/>
                  </a:rPr>
                  <a:t> לשתי </a:t>
                </a:r>
                <a:r>
                  <a:rPr lang="he-IL" sz="1400" b="1" u="sng" dirty="0" err="1">
                    <a:solidFill>
                      <a:srgbClr val="C00000"/>
                    </a:solidFill>
                    <a:cs typeface="+mj-cs"/>
                  </a:rPr>
                  <a:t>האוכלסיות</a:t>
                </a:r>
                <a:r>
                  <a:rPr lang="he-IL" sz="1400" b="1" u="sng" dirty="0">
                    <a:solidFill>
                      <a:srgbClr val="C00000"/>
                    </a:solidFill>
                    <a:cs typeface="+mj-cs"/>
                  </a:rPr>
                  <a:t> :</a:t>
                </a:r>
              </a:p>
              <a:p>
                <a:r>
                  <a:rPr lang="he-IL" sz="1400" dirty="0">
                    <a:cs typeface="+mj-cs"/>
                  </a:rPr>
                  <a:t>לפי הטבלה שקיבלנו אותה מהתוכנה נקבל ש: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he-IL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he-IL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=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 −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2</m:t>
                        </m:r>
                      </m:e>
                    </m:d>
                    <m:r>
                      <a:rPr lang="he-IL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𝜖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72956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,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3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08462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]</m:t>
                    </m:r>
                  </m:oMath>
                </a14:m>
                <a:r>
                  <a:rPr lang="he-IL" sz="1400" dirty="0">
                    <a:cs typeface="+mj-cs"/>
                  </a:rPr>
                  <a:t> </a:t>
                </a:r>
              </a:p>
              <a:p>
                <a:endParaRPr lang="en-US" sz="1400" dirty="0">
                  <a:cs typeface="+mj-cs"/>
                </a:endParaRPr>
              </a:p>
              <a:p>
                <a:r>
                  <a:rPr lang="he-IL" sz="1400" dirty="0">
                    <a:cs typeface="+mj-cs"/>
                  </a:rPr>
                  <a:t>ניתן לראות כי </a:t>
                </a:r>
                <a:r>
                  <a:rPr lang="he-IL" sz="1400" dirty="0" err="1">
                    <a:cs typeface="+mj-cs"/>
                  </a:rPr>
                  <a:t>בר"ס</a:t>
                </a:r>
                <a:r>
                  <a:rPr lang="he-IL" sz="1400" dirty="0">
                    <a:cs typeface="+mj-cs"/>
                  </a:rPr>
                  <a:t> שני הערכים חיוביים  ולכן ניתן לומר ברמת סמך של 95% כי תוחלת זמן ההמתנה בבוקר גדולה מתוחלת זמן ההמתנה בערב כלומר זמן ההמתנה בערב יותר ארוך מזמן ההמתנה בבוקר</a:t>
                </a:r>
                <a:endParaRPr lang="en-US" sz="1400" dirty="0">
                  <a:cs typeface="+mj-cs"/>
                </a:endParaRPr>
              </a:p>
              <a:p>
                <a:r>
                  <a:rPr lang="he-IL" sz="1400" dirty="0">
                    <a:cs typeface="+mj-cs"/>
                  </a:rPr>
                  <a:t>ואם נבצע את הניסוי המתואר אינסוף פעמים אז תוחלת ההפרש תנוע בתחום [0.72956, 3.08462]  בסיכוי של 0.95 והיא לא תהיה בתחום הנ"ל בסיכוי של 0.05 </a:t>
                </a:r>
              </a:p>
              <a:p>
                <a:endParaRPr lang="en-IL" sz="2000" dirty="0"/>
              </a:p>
            </p:txBody>
          </p:sp>
        </mc:Choice>
        <mc:Fallback xmlns="">
          <p:sp>
            <p:nvSpPr>
              <p:cNvPr id="16" name="TextBox 2">
                <a:extLst>
                  <a:ext uri="{FF2B5EF4-FFF2-40B4-BE49-F238E27FC236}">
                    <a16:creationId xmlns:a16="http://schemas.microsoft.com/office/drawing/2014/main" id="{011025A5-B9E9-31D0-80A6-957599D6A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80" y="5098029"/>
                <a:ext cx="7448448" cy="1908215"/>
              </a:xfrm>
              <a:prstGeom prst="rect">
                <a:avLst/>
              </a:prstGeom>
              <a:blipFill>
                <a:blip r:embed="rId7"/>
                <a:stretch>
                  <a:fillRect l="-245" t="-319" r="-24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מחבר: מרפקי 19">
            <a:extLst>
              <a:ext uri="{FF2B5EF4-FFF2-40B4-BE49-F238E27FC236}">
                <a16:creationId xmlns:a16="http://schemas.microsoft.com/office/drawing/2014/main" id="{2001F558-4746-0479-00C6-1F4E89B15FC2}"/>
              </a:ext>
            </a:extLst>
          </p:cNvPr>
          <p:cNvCxnSpPr/>
          <p:nvPr/>
        </p:nvCxnSpPr>
        <p:spPr>
          <a:xfrm flipV="1">
            <a:off x="7744485" y="4246258"/>
            <a:ext cx="2411763" cy="1010473"/>
          </a:xfrm>
          <a:prstGeom prst="bentConnector3">
            <a:avLst>
              <a:gd name="adj1" fmla="val 44757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2DAC291F-3966-BEC6-0354-E2353253CB4E}"/>
              </a:ext>
            </a:extLst>
          </p:cNvPr>
          <p:cNvSpPr/>
          <p:nvPr/>
        </p:nvSpPr>
        <p:spPr>
          <a:xfrm>
            <a:off x="10128557" y="4066539"/>
            <a:ext cx="2034993" cy="461665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613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C8BE70-7BA7-6430-C76A-638603CE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5798" y="283336"/>
            <a:ext cx="10515600" cy="1325563"/>
          </a:xfrm>
        </p:spPr>
        <p:txBody>
          <a:bodyPr>
            <a:normAutofit/>
          </a:bodyPr>
          <a:lstStyle/>
          <a:p>
            <a:r>
              <a:rPr lang="he-IL" sz="4000" b="1" dirty="0">
                <a:solidFill>
                  <a:schemeClr val="accent1"/>
                </a:solidFill>
              </a:rPr>
              <a:t>בדיקת השערות על שתי אוכלוסיות  תלויות </a:t>
            </a:r>
            <a:r>
              <a:rPr lang="he-IL" sz="4000" b="1" dirty="0" err="1">
                <a:solidFill>
                  <a:schemeClr val="accent1"/>
                </a:solidFill>
              </a:rPr>
              <a:t>ור"ס</a:t>
            </a:r>
            <a:r>
              <a:rPr lang="he-IL" sz="4000" b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7" name="מציין מיקום תוכן 6">
            <a:extLst>
              <a:ext uri="{FF2B5EF4-FFF2-40B4-BE49-F238E27FC236}">
                <a16:creationId xmlns:a16="http://schemas.microsoft.com/office/drawing/2014/main" id="{76D33CFF-6BA1-C9A3-3D33-00D24DB43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506939-C244-43E4-9D8D-E5A29CA76B8E}"/>
                  </a:ext>
                </a:extLst>
              </p:cNvPr>
              <p:cNvSpPr txBox="1"/>
              <p:nvPr/>
            </p:nvSpPr>
            <p:spPr>
              <a:xfrm>
                <a:off x="282804" y="4936652"/>
                <a:ext cx="7509675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sz="1400" b="1" u="sng" dirty="0">
                    <a:solidFill>
                      <a:srgbClr val="C00000"/>
                    </a:solidFill>
                    <a:cs typeface="+mj-cs"/>
                  </a:rPr>
                  <a:t>רווח סמך להפרש </a:t>
                </a:r>
                <a:r>
                  <a:rPr lang="he-IL" sz="1400" b="1" u="sng" dirty="0" err="1">
                    <a:solidFill>
                      <a:srgbClr val="C00000"/>
                    </a:solidFill>
                    <a:cs typeface="+mj-cs"/>
                  </a:rPr>
                  <a:t>התוחלות</a:t>
                </a:r>
                <a:r>
                  <a:rPr lang="he-IL" sz="1400" b="1" u="sng" dirty="0">
                    <a:solidFill>
                      <a:srgbClr val="C00000"/>
                    </a:solidFill>
                    <a:cs typeface="+mj-cs"/>
                  </a:rPr>
                  <a:t> לשתי </a:t>
                </a:r>
                <a:r>
                  <a:rPr lang="he-IL" sz="1400" b="1" u="sng" dirty="0" err="1">
                    <a:solidFill>
                      <a:srgbClr val="C00000"/>
                    </a:solidFill>
                    <a:cs typeface="+mj-cs"/>
                  </a:rPr>
                  <a:t>האוכלסיות</a:t>
                </a:r>
                <a:r>
                  <a:rPr lang="he-IL" sz="1400" b="1" u="sng" dirty="0">
                    <a:solidFill>
                      <a:srgbClr val="C00000"/>
                    </a:solidFill>
                    <a:cs typeface="+mj-cs"/>
                  </a:rPr>
                  <a:t> :</a:t>
                </a:r>
              </a:p>
              <a:p>
                <a:endParaRPr lang="he-IL" sz="1400" b="1" u="sng" dirty="0">
                  <a:cs typeface="+mj-cs"/>
                </a:endParaRPr>
              </a:p>
              <a:p>
                <a:r>
                  <a:rPr lang="he-IL" sz="1400" dirty="0">
                    <a:cs typeface="+mj-cs"/>
                  </a:rPr>
                  <a:t>לפי הטבלה שקיבלנו אותה מהתוכנה נקבל ש:</a:t>
                </a:r>
              </a:p>
              <a:p>
                <a:r>
                  <a:rPr lang="he-IL" sz="1400" dirty="0">
                    <a:cs typeface="+mj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he-IL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he-IL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=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 −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2</m:t>
                        </m:r>
                      </m:e>
                    </m:d>
                    <m:r>
                      <a:rPr lang="he-IL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𝜖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[−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87868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, 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50593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]</m:t>
                    </m:r>
                  </m:oMath>
                </a14:m>
                <a:r>
                  <a:rPr lang="he-IL" sz="1400" dirty="0">
                    <a:cs typeface="+mj-cs"/>
                  </a:rPr>
                  <a:t> </a:t>
                </a:r>
                <a:endParaRPr lang="en-US" sz="1400" dirty="0">
                  <a:cs typeface="+mj-cs"/>
                </a:endParaRPr>
              </a:p>
              <a:p>
                <a:r>
                  <a:rPr lang="he-IL" sz="1400" dirty="0">
                    <a:cs typeface="+mj-cs"/>
                  </a:rPr>
                  <a:t>ניתן לראות כי </a:t>
                </a:r>
                <a:r>
                  <a:rPr lang="he-IL" sz="1400" dirty="0" err="1">
                    <a:cs typeface="+mj-cs"/>
                  </a:rPr>
                  <a:t>בר"ס</a:t>
                </a:r>
                <a:r>
                  <a:rPr lang="he-IL" sz="1400" dirty="0">
                    <a:cs typeface="+mj-cs"/>
                  </a:rPr>
                  <a:t> שני הערכים שליליים ולכן ניתן לומר ברמת סמך של 95% כי תוחלת זמן ההמתנה כאשר הקופאית היא אישה קטנה מתוחלת זמן ההמתנה כאשר הקופאי הוא גבר</a:t>
                </a:r>
                <a:endParaRPr lang="en-US" sz="1400" dirty="0">
                  <a:cs typeface="+mj-cs"/>
                </a:endParaRPr>
              </a:p>
              <a:p>
                <a:r>
                  <a:rPr lang="he-IL" sz="1400" dirty="0">
                    <a:cs typeface="+mj-cs"/>
                  </a:rPr>
                  <a:t>ואם נבצע את הניסוי המתואר אינסוף פעמים אז תוחלת ההפרש תנוע בתחום ר"ס בסיכוי של 0.95 והיא לא תהיה בתחום בסיכוי של 0.05.</a:t>
                </a: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506939-C244-43E4-9D8D-E5A29CA76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04" y="4936652"/>
                <a:ext cx="7509675" cy="2092881"/>
              </a:xfrm>
              <a:prstGeom prst="rect">
                <a:avLst/>
              </a:prstGeom>
              <a:blipFill>
                <a:blip r:embed="rId2"/>
                <a:stretch>
                  <a:fillRect l="-162" t="-583" r="-24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D4DE77-F850-4F9A-BFFC-042329262382}"/>
                  </a:ext>
                </a:extLst>
              </p:cNvPr>
              <p:cNvSpPr txBox="1"/>
              <p:nvPr/>
            </p:nvSpPr>
            <p:spPr>
              <a:xfrm>
                <a:off x="2639506" y="1557357"/>
                <a:ext cx="5005592" cy="1231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he-IL" sz="1400" b="1" u="sng" dirty="0">
                    <a:solidFill>
                      <a:srgbClr val="C00000"/>
                    </a:solidFill>
                    <a:cs typeface="+mj-cs"/>
                  </a:rPr>
                  <a:t>הנחות המודל:</a:t>
                </a:r>
              </a:p>
              <a:p>
                <a:r>
                  <a:rPr lang="he-IL" sz="1400" dirty="0">
                    <a:cs typeface="+mj-cs"/>
                  </a:rPr>
                  <a:t>ניתן לראות לפי מבחן </a:t>
                </a:r>
                <a:r>
                  <a:rPr lang="he-IL" sz="1400" dirty="0" err="1">
                    <a:cs typeface="+mj-cs"/>
                  </a:rPr>
                  <a:t>קולמגורוב-סמירנוב</a:t>
                </a:r>
                <a:r>
                  <a:rPr lang="he-IL" sz="1400" dirty="0">
                    <a:cs typeface="+mj-cs"/>
                  </a:rPr>
                  <a:t> כי 2 הקבוצות מתפלגות נורמלי כך ש:  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𝑃𝑣𝑎𝑙𝑢𝑒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+mj-cs"/>
                          </a:rPr>
                          <m:t>𝑤𝑖𝑛𝑡𝑒𝑟</m:t>
                        </m:r>
                      </m:e>
                    </m:d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+mj-cs"/>
                          </a:rPr>
                          <m:t>𝑠𝑖𝑔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+mj-cs"/>
                          </a:rPr>
                          <m:t>.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0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079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&gt;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𝑎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0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05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ar-AE" sz="1400" dirty="0">
                    <a:cs typeface="+mj-cs"/>
                  </a:rPr>
                  <a:t> </a:t>
                </a:r>
                <a:r>
                  <a:rPr lang="he-IL" sz="1400" dirty="0">
                    <a:cs typeface="+mj-cs"/>
                  </a:rPr>
                  <a:t>וגם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cs typeface="+mj-cs"/>
                      </a:rPr>
                      <m:t>𝑃𝑣𝑎𝑙𝑢𝑒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+mj-cs"/>
                          </a:rPr>
                          <m:t>𝑠𝑢𝑚𝑚𝑒𝑟</m:t>
                        </m:r>
                      </m:e>
                    </m:d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+mj-cs"/>
                          </a:rPr>
                          <m:t>𝑠𝑖𝑔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cs typeface="+mj-cs"/>
                          </a:rPr>
                          <m:t>.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  <a:cs typeface="+mj-cs"/>
                      </a:rPr>
                      <m:t>0</m:t>
                    </m:r>
                    <m:r>
                      <a:rPr lang="en-US" sz="1400" i="1">
                        <a:latin typeface="Cambria Math" panose="02040503050406030204" pitchFamily="18" charset="0"/>
                        <a:cs typeface="+mj-cs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  <a:cs typeface="+mj-cs"/>
                      </a:rPr>
                      <m:t>&gt;</m:t>
                    </m:r>
                    <m:r>
                      <a:rPr lang="en-US" sz="1400" i="1">
                        <a:latin typeface="Cambria Math" panose="02040503050406030204" pitchFamily="18" charset="0"/>
                        <a:cs typeface="+mj-cs"/>
                      </a:rPr>
                      <m:t>𝑎</m:t>
                    </m:r>
                    <m:r>
                      <a:rPr lang="en-US" sz="1400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  <a:cs typeface="+mj-cs"/>
                      </a:rPr>
                      <m:t>0</m:t>
                    </m:r>
                    <m:r>
                      <a:rPr lang="en-US" sz="1400" i="1">
                        <a:latin typeface="Cambria Math" panose="02040503050406030204" pitchFamily="18" charset="0"/>
                        <a:cs typeface="+mj-cs"/>
                      </a:rPr>
                      <m:t>.</m:t>
                    </m:r>
                    <m:r>
                      <a:rPr lang="en-US" sz="1400" i="1">
                        <a:latin typeface="Cambria Math" panose="02040503050406030204" pitchFamily="18" charset="0"/>
                        <a:cs typeface="+mj-cs"/>
                      </a:rPr>
                      <m:t>05</m:t>
                    </m:r>
                    <m:r>
                      <a:rPr lang="en-US" sz="1400" i="1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sz="1400" dirty="0">
                    <a:cs typeface="+mj-cs"/>
                  </a:rPr>
                  <a:t> </a:t>
                </a: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D4DE77-F850-4F9A-BFFC-042329262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506" y="1557357"/>
                <a:ext cx="5005592" cy="1231106"/>
              </a:xfrm>
              <a:prstGeom prst="rect">
                <a:avLst/>
              </a:prstGeom>
              <a:blipFill>
                <a:blip r:embed="rId3"/>
                <a:stretch>
                  <a:fillRect l="-1583" t="-495" r="-36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>
            <a:extLst>
              <a:ext uri="{FF2B5EF4-FFF2-40B4-BE49-F238E27FC236}">
                <a16:creationId xmlns:a16="http://schemas.microsoft.com/office/drawing/2014/main" id="{A4D64F94-C1D8-6E5B-A4AE-BA21B4BE5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479" y="3417216"/>
            <a:ext cx="4230991" cy="2578832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32137B95-7ED2-531D-13EF-279AAAD8A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411" y="1402290"/>
            <a:ext cx="4584589" cy="1664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56FBA29E-3DC0-3C78-8CBA-EFA30427A4AB}"/>
                  </a:ext>
                </a:extLst>
              </p:cNvPr>
              <p:cNvSpPr txBox="1"/>
              <p:nvPr/>
            </p:nvSpPr>
            <p:spPr>
              <a:xfrm>
                <a:off x="2888713" y="2684512"/>
                <a:ext cx="4718698" cy="815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r" rtl="1">
                  <a:buNone/>
                </a:pPr>
                <a:r>
                  <a:rPr lang="he-IL" sz="1400" b="1" u="sng" dirty="0">
                    <a:solidFill>
                      <a:srgbClr val="C00000"/>
                    </a:solidFill>
                    <a:latin typeface="David" panose="020E0502060401010101" pitchFamily="34" charset="-79"/>
                    <a:cs typeface="+mj-cs"/>
                  </a:rPr>
                  <a:t>מערכת השערות חד צדדית ימנית:</a:t>
                </a:r>
              </a:p>
              <a:p>
                <a:pPr marL="0" indent="0" rtl="0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sz="140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1400" b="0" i="0" smtClean="0">
                            <a:latin typeface="Cambria Math" panose="02040503050406030204" pitchFamily="18" charset="0"/>
                            <a:cs typeface="+mj-cs"/>
                          </a:rPr>
                          <m:t>                                           </m:t>
                        </m:r>
                        <m:r>
                          <a:rPr lang="en-US" sz="1400" b="0" i="1">
                            <a:latin typeface="Cambria Math"/>
                            <a:cs typeface="+mj-cs"/>
                          </a:rPr>
                          <m:t>𝐻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  <a:cs typeface="+mj-cs"/>
                          </a:rPr>
                          <m:t>0</m:t>
                        </m:r>
                      </m:sub>
                    </m:sSub>
                    <m:r>
                      <a:rPr lang="he-IL" sz="1400" b="0" smtClean="0">
                        <a:latin typeface="Cambria Math"/>
                        <a:cs typeface="+mj-cs"/>
                      </a:rPr>
                      <m:t>: </m:t>
                    </m:r>
                    <m:sSub>
                      <m:sSubPr>
                        <m:ctrlPr>
                          <a:rPr lang="he-IL" sz="140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he-IL" sz="1400" b="0" i="1">
                            <a:latin typeface="Cambria Math"/>
                            <a:ea typeface="Cambria Math"/>
                            <a:cs typeface="+mj-cs"/>
                          </a:rPr>
                          <m:t>𝜇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  <a:cs typeface="+mj-cs"/>
                          </a:rPr>
                          <m:t>𝑠𝑢𝑚𝑚𝑒𝑟</m:t>
                        </m:r>
                      </m:sub>
                    </m:sSub>
                    <m:r>
                      <a:rPr lang="he-IL" sz="1400" b="0" i="1" smtClean="0">
                        <a:latin typeface="Cambria Math" panose="02040503050406030204" pitchFamily="18" charset="0"/>
                        <a:cs typeface="+mj-cs"/>
                      </a:rPr>
                      <m:t>−</m:t>
                    </m:r>
                    <m:sSub>
                      <m:sSubPr>
                        <m:ctrlPr>
                          <a:rPr lang="he-IL" sz="140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he-IL" sz="1400" b="0" i="1" smtClean="0">
                            <a:latin typeface="Cambria Math"/>
                            <a:ea typeface="Cambria Math"/>
                            <a:cs typeface="+mj-cs"/>
                          </a:rPr>
                          <m:t>𝜇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  <a:cs typeface="+mj-cs"/>
                          </a:rPr>
                          <m:t>𝑤𝑖𝑛𝑡𝑒𝑟</m:t>
                        </m:r>
                      </m:sub>
                    </m:sSub>
                  </m:oMath>
                </a14:m>
                <a:r>
                  <a:rPr lang="he-IL" sz="1400" dirty="0">
                    <a:cs typeface="+mj-cs"/>
                  </a:rPr>
                  <a:t> =</a:t>
                </a:r>
                <a14:m>
                  <m:oMath xmlns:m="http://schemas.openxmlformats.org/officeDocument/2006/math">
                    <m:r>
                      <a:rPr lang="he-IL" sz="1400" b="0" i="0" smtClean="0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  <m:r>
                      <a:rPr lang="he-IL" sz="1400" b="0" i="1" smtClean="0">
                        <a:latin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endParaRPr lang="he-IL" sz="1400" dirty="0">
                  <a:latin typeface="Cambria Math" panose="02040503050406030204" pitchFamily="18" charset="0"/>
                  <a:ea typeface="Cambria Math"/>
                  <a:cs typeface="+mj-cs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400" dirty="0">
                    <a:cs typeface="+mj-cs"/>
                  </a:rPr>
                  <a:t>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140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1400" b="0" i="0" smtClean="0">
                            <a:latin typeface="Cambria Math" panose="02040503050406030204" pitchFamily="18" charset="0"/>
                            <a:cs typeface="+mj-cs"/>
                          </a:rPr>
                          <m:t> </m:t>
                        </m:r>
                        <m:r>
                          <a:rPr lang="en-US" sz="1400" b="0" i="1">
                            <a:latin typeface="Cambria Math"/>
                            <a:cs typeface="+mj-cs"/>
                          </a:rPr>
                          <m:t>𝐻</m:t>
                        </m:r>
                      </m:e>
                      <m:sub>
                        <m:r>
                          <a:rPr lang="en-US" sz="1400" b="0" i="1">
                            <a:latin typeface="Cambria Math"/>
                            <a:cs typeface="+mj-cs"/>
                          </a:rPr>
                          <m:t>1</m:t>
                        </m:r>
                      </m:sub>
                    </m:sSub>
                    <m:r>
                      <a:rPr lang="he-IL" sz="1400" b="0">
                        <a:latin typeface="Cambria Math"/>
                        <a:cs typeface="+mj-cs"/>
                      </a:rPr>
                      <m:t>:</m:t>
                    </m:r>
                    <m:sSub>
                      <m:sSubPr>
                        <m:ctrlPr>
                          <a:rPr lang="he-IL" sz="1400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he-IL" sz="1400" b="0" i="1" smtClean="0">
                            <a:latin typeface="Cambria Math"/>
                            <a:ea typeface="Cambria Math"/>
                            <a:cs typeface="+mj-cs"/>
                          </a:rPr>
                          <m:t>𝜇</m:t>
                        </m:r>
                      </m:e>
                      <m:sub>
                        <m:r>
                          <a:rPr lang="he-IL" sz="1400" b="0" i="1" smtClean="0">
                            <a:latin typeface="Cambria Math" panose="02040503050406030204" pitchFamily="18" charset="0"/>
                            <a:ea typeface="Cambria Math"/>
                            <a:cs typeface="+mj-cs"/>
                          </a:rPr>
                          <m:t>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  <a:cs typeface="+mj-cs"/>
                          </a:rPr>
                          <m:t>𝑠𝑢𝑚𝑚𝑒𝑟</m:t>
                        </m:r>
                      </m:sub>
                    </m:sSub>
                    <m:r>
                      <a:rPr lang="he-IL" sz="1400" b="0" i="1" smtClean="0">
                        <a:latin typeface="Cambria Math" panose="02040503050406030204" pitchFamily="18" charset="0"/>
                        <a:cs typeface="+mj-cs"/>
                      </a:rPr>
                      <m:t>−</m:t>
                    </m:r>
                    <m:sSub>
                      <m:sSubPr>
                        <m:ctrlPr>
                          <a:rPr lang="he-IL" sz="1400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he-IL" sz="1400" b="0" i="1">
                            <a:latin typeface="Cambria Math"/>
                            <a:ea typeface="Cambria Math"/>
                            <a:cs typeface="+mj-cs"/>
                          </a:rPr>
                          <m:t>𝜇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  <a:cs typeface="+mj-cs"/>
                          </a:rPr>
                          <m:t>𝑤𝑖𝑛𝑡𝑒𝑟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cs typeface="+mj-cs"/>
                      </a:rPr>
                      <m:t>&gt;</m:t>
                    </m:r>
                    <m:r>
                      <a:rPr lang="he-IL" sz="1400" b="0" i="1" smtClean="0">
                        <a:latin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endParaRPr lang="he-IL" sz="1400" dirty="0">
                  <a:latin typeface="David" panose="020E0502060401010101" pitchFamily="34" charset="-79"/>
                  <a:cs typeface="+mj-cs"/>
                </a:endParaRPr>
              </a:p>
            </p:txBody>
          </p:sp>
        </mc:Choice>
        <mc:Fallback xmlns="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56FBA29E-3DC0-3C78-8CBA-EFA30427A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713" y="2684512"/>
                <a:ext cx="4718698" cy="815608"/>
              </a:xfrm>
              <a:prstGeom prst="rect">
                <a:avLst/>
              </a:prstGeom>
              <a:blipFill>
                <a:blip r:embed="rId6"/>
                <a:stretch>
                  <a:fillRect t="-746" r="-38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B8BA5E21-C299-4033-F008-51998F1A92EC}"/>
                  </a:ext>
                </a:extLst>
              </p:cNvPr>
              <p:cNvSpPr txBox="1"/>
              <p:nvPr/>
            </p:nvSpPr>
            <p:spPr>
              <a:xfrm>
                <a:off x="1968706" y="3603347"/>
                <a:ext cx="5413092" cy="7814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>
                  <a:spcAft>
                    <a:spcPts val="6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 lang="he-IL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&lt; 0.05 =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he-IL" sz="1400" dirty="0">
                    <a:solidFill>
                      <a:schemeClr val="tx1"/>
                    </a:solidFill>
                  </a:rPr>
                  <a:t> = </a:t>
                </a:r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Pvalue</m:t>
                    </m:r>
                    <m:r>
                      <a:rPr lang="en-US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𝑠𝑖𝑔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𝑡𝑎𝑖𝑙𝑒𝑑</m:t>
                            </m:r>
                          </m:e>
                        </m:d>
                      </m:num>
                      <m:den>
                        <m:r>
                          <a:rPr lang="he-I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he-IL" sz="1400" b="1" u="sng" dirty="0">
                  <a:solidFill>
                    <a:schemeClr val="tx1"/>
                  </a:solidFill>
                </a:endParaRPr>
              </a:p>
              <a:p>
                <a:pPr algn="ctr" rt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he-IL" sz="1400" dirty="0">
                  <a:solidFill>
                    <a:schemeClr val="tx1"/>
                  </a:solidFill>
                  <a:cs typeface="+mj-cs"/>
                </a:endParaRPr>
              </a:p>
            </p:txBody>
          </p:sp>
        </mc:Choice>
        <mc:Fallback xmlns=""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B8BA5E21-C299-4033-F008-51998F1A9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706" y="3603347"/>
                <a:ext cx="5413092" cy="7814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CC97F0C-5BD0-6BD5-C15A-2593AC60BA9A}"/>
              </a:ext>
            </a:extLst>
          </p:cNvPr>
          <p:cNvSpPr txBox="1"/>
          <p:nvPr/>
        </p:nvSpPr>
        <p:spPr>
          <a:xfrm>
            <a:off x="1138293" y="4284958"/>
            <a:ext cx="66541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400" dirty="0">
                <a:highlight>
                  <a:srgbClr val="FFFF00"/>
                </a:highlight>
                <a:latin typeface="David" panose="020E0502060401010101" pitchFamily="34" charset="-79"/>
                <a:ea typeface="Cambria Math" panose="02040503050406030204" pitchFamily="18" charset="0"/>
                <a:cs typeface="+mj-cs"/>
              </a:rPr>
              <a:t>ולכן  נדחה את השערת האפס ונקבע כי בר"מ 5% תוחלת זמן ההתנה בתור לקופה בעונת הקיץ </a:t>
            </a:r>
            <a:r>
              <a:rPr lang="he-IL" sz="1400" b="1" u="sng" dirty="0">
                <a:highlight>
                  <a:srgbClr val="FFFF00"/>
                </a:highlight>
                <a:latin typeface="David" panose="020E0502060401010101" pitchFamily="34" charset="-79"/>
                <a:ea typeface="Cambria Math" panose="02040503050406030204" pitchFamily="18" charset="0"/>
                <a:cs typeface="+mj-cs"/>
              </a:rPr>
              <a:t>גבוה יותר </a:t>
            </a:r>
            <a:r>
              <a:rPr lang="he-IL" sz="1400" dirty="0">
                <a:highlight>
                  <a:srgbClr val="FFFF00"/>
                </a:highlight>
                <a:latin typeface="David" panose="020E0502060401010101" pitchFamily="34" charset="-79"/>
                <a:ea typeface="Cambria Math" panose="02040503050406030204" pitchFamily="18" charset="0"/>
                <a:cs typeface="+mj-cs"/>
              </a:rPr>
              <a:t>לתוחלת זמן ההמתנה לקופה בעונת החורף.  </a:t>
            </a:r>
            <a:endParaRPr lang="he-IL" sz="1400" dirty="0">
              <a:highlight>
                <a:srgbClr val="FFFF00"/>
              </a:highlight>
              <a:cs typeface="+mj-cs"/>
            </a:endParaRPr>
          </a:p>
        </p:txBody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E1C1FC8D-7052-6E63-0BFC-C67C3137B667}"/>
              </a:ext>
            </a:extLst>
          </p:cNvPr>
          <p:cNvSpPr/>
          <p:nvPr/>
        </p:nvSpPr>
        <p:spPr>
          <a:xfrm>
            <a:off x="9720586" y="2120954"/>
            <a:ext cx="479216" cy="4336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D4372F7F-DEB7-415B-DCD9-02620FC24A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6045" y="4856731"/>
            <a:ext cx="1690378" cy="481626"/>
          </a:xfrm>
          <a:prstGeom prst="rect">
            <a:avLst/>
          </a:prstGeom>
        </p:spPr>
      </p:pic>
      <p:cxnSp>
        <p:nvCxnSpPr>
          <p:cNvPr id="22" name="מחבר: מרפקי 21">
            <a:extLst>
              <a:ext uri="{FF2B5EF4-FFF2-40B4-BE49-F238E27FC236}">
                <a16:creationId xmlns:a16="http://schemas.microsoft.com/office/drawing/2014/main" id="{29515C83-3E47-AAF9-CED5-84D1892C4844}"/>
              </a:ext>
            </a:extLst>
          </p:cNvPr>
          <p:cNvCxnSpPr/>
          <p:nvPr/>
        </p:nvCxnSpPr>
        <p:spPr>
          <a:xfrm flipV="1">
            <a:off x="7645098" y="5099901"/>
            <a:ext cx="2780947" cy="6504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מלבן: פינות מעוגלות 23">
            <a:extLst>
              <a:ext uri="{FF2B5EF4-FFF2-40B4-BE49-F238E27FC236}">
                <a16:creationId xmlns:a16="http://schemas.microsoft.com/office/drawing/2014/main" id="{63961D22-E217-541E-C123-FF3938DB5DB5}"/>
              </a:ext>
            </a:extLst>
          </p:cNvPr>
          <p:cNvSpPr/>
          <p:nvPr/>
        </p:nvSpPr>
        <p:spPr>
          <a:xfrm>
            <a:off x="7792479" y="5775206"/>
            <a:ext cx="4230991" cy="220842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4734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תיבת טקסט 5">
                <a:extLst>
                  <a:ext uri="{FF2B5EF4-FFF2-40B4-BE49-F238E27FC236}">
                    <a16:creationId xmlns:a16="http://schemas.microsoft.com/office/drawing/2014/main" id="{E5C6D209-9A3A-F207-AC82-A2DE28BF7DD6}"/>
                  </a:ext>
                </a:extLst>
              </p:cNvPr>
              <p:cNvSpPr txBox="1"/>
              <p:nvPr/>
            </p:nvSpPr>
            <p:spPr>
              <a:xfrm>
                <a:off x="4755221" y="1250445"/>
                <a:ext cx="7539647" cy="82650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lvl="0" algn="ctr"/>
                <a:r>
                  <a:rPr lang="he-IL" sz="1400" dirty="0"/>
                  <a:t>לפי מבחן </a:t>
                </a:r>
                <a:r>
                  <a:rPr lang="he-IL" sz="1400" dirty="0" err="1"/>
                  <a:t>קולמגוקוב</a:t>
                </a:r>
                <a:r>
                  <a:rPr lang="he-IL" sz="1400" dirty="0"/>
                  <a:t> קיבלנו כי 3 המקומות ההתפלגות נורמלית (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𝑠𝑖𝑔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05</m:t>
                    </m:r>
                    <m:r>
                      <a:rPr lang="he-IL" sz="1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sz="1400" dirty="0"/>
                  <a:t>) </a:t>
                </a:r>
                <a:r>
                  <a:rPr lang="he-IL" sz="1400" dirty="0">
                    <a:solidFill>
                      <a:prstClr val="black"/>
                    </a:solidFill>
                  </a:rPr>
                  <a:t>וע״פ מבחן לווין מתקיים כי </a:t>
                </a:r>
                <a:r>
                  <a:rPr lang="en-US" sz="1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𝑠𝑖𝑔</m:t>
                    </m:r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he-IL" sz="1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he-IL" sz="1400" dirty="0">
                    <a:solidFill>
                      <a:prstClr val="black"/>
                    </a:solidFill>
                  </a:rPr>
                  <a:t>ולכן בר״מ של 5% </a:t>
                </a:r>
                <a:r>
                  <a:rPr lang="he-IL" sz="1400" dirty="0" err="1">
                    <a:solidFill>
                      <a:prstClr val="black"/>
                    </a:solidFill>
                  </a:rPr>
                  <a:t>השונויות</a:t>
                </a:r>
                <a:r>
                  <a:rPr lang="he-IL" sz="1400" dirty="0">
                    <a:solidFill>
                      <a:prstClr val="black"/>
                    </a:solidFill>
                  </a:rPr>
                  <a:t> שוות </a:t>
                </a:r>
              </a:p>
              <a:p>
                <a:pPr marL="0" algn="ctr" defTabSz="914400" eaLnBrk="1" latinLnBrk="0" hangingPunct="1"/>
                <a:endParaRPr lang="he-IL" dirty="0"/>
              </a:p>
            </p:txBody>
          </p:sp>
        </mc:Choice>
        <mc:Fallback xmlns="">
          <p:sp>
            <p:nvSpPr>
              <p:cNvPr id="6" name="תיבת טקסט 5">
                <a:extLst>
                  <a:ext uri="{FF2B5EF4-FFF2-40B4-BE49-F238E27FC236}">
                    <a16:creationId xmlns:a16="http://schemas.microsoft.com/office/drawing/2014/main" id="{E5C6D209-9A3A-F207-AC82-A2DE28BF7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221" y="1250445"/>
                <a:ext cx="7539647" cy="826508"/>
              </a:xfrm>
              <a:prstGeom prst="rect">
                <a:avLst/>
              </a:prstGeom>
              <a:blipFill>
                <a:blip r:embed="rId2"/>
                <a:stretch>
                  <a:fillRect t="-147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B55B4651-B10D-89F9-E57A-56D9E164F3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48" r="2353"/>
          <a:stretch/>
        </p:blipFill>
        <p:spPr>
          <a:xfrm>
            <a:off x="8592445" y="1698616"/>
            <a:ext cx="3492789" cy="1336086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59545C6E-A98D-0DFB-8ACB-1EAF9B969663}"/>
              </a:ext>
            </a:extLst>
          </p:cNvPr>
          <p:cNvSpPr txBox="1"/>
          <p:nvPr/>
        </p:nvSpPr>
        <p:spPr>
          <a:xfrm>
            <a:off x="3422822" y="160638"/>
            <a:ext cx="426308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solidFill>
                  <a:schemeClr val="accent1"/>
                </a:solidFill>
              </a:rPr>
              <a:t>ניתוח שונות חד כיוונית -</a:t>
            </a:r>
            <a:r>
              <a:rPr lang="en-US" sz="2400" b="1" dirty="0">
                <a:solidFill>
                  <a:schemeClr val="accent1"/>
                </a:solidFill>
              </a:rPr>
              <a:t>ANOVA</a:t>
            </a:r>
            <a:endParaRPr lang="he-IL" sz="2400" b="1" dirty="0">
              <a:solidFill>
                <a:schemeClr val="accent1"/>
              </a:solidFill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0466FC8E-9069-24B0-5A31-177226745404}"/>
              </a:ext>
            </a:extLst>
          </p:cNvPr>
          <p:cNvSpPr txBox="1"/>
          <p:nvPr/>
        </p:nvSpPr>
        <p:spPr>
          <a:xfrm>
            <a:off x="121298" y="710497"/>
            <a:ext cx="1140116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defTabSz="914400" rtl="0" eaLnBrk="1" latinLnBrk="0" hangingPunct="1"/>
            <a:r>
              <a:rPr lang="he-IL" dirty="0"/>
              <a:t>במבחן זה נרצה לבחון אם קיים הבדל מובהק בתוחלת זמן ההתמנה בתור לקופה בין 3 </a:t>
            </a:r>
            <a:r>
              <a:rPr lang="he-IL" dirty="0" err="1"/>
              <a:t>המיקומות</a:t>
            </a:r>
            <a:r>
              <a:rPr lang="he-IL" dirty="0"/>
              <a:t>: צפון (1), דרום (2) , מרכז (3)</a:t>
            </a:r>
          </a:p>
        </p:txBody>
      </p:sp>
      <p:pic>
        <p:nvPicPr>
          <p:cNvPr id="12" name="תמונה 11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12B14A4B-0E4C-49C4-06FF-F15FA82C4C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r="2926" b="680"/>
          <a:stretch/>
        </p:blipFill>
        <p:spPr>
          <a:xfrm>
            <a:off x="4542688" y="1730226"/>
            <a:ext cx="3982684" cy="1304476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תיבת טקסט 12">
                <a:extLst>
                  <a:ext uri="{FF2B5EF4-FFF2-40B4-BE49-F238E27FC236}">
                    <a16:creationId xmlns:a16="http://schemas.microsoft.com/office/drawing/2014/main" id="{74C623F3-5278-56A1-66F7-A9156A0FE0AF}"/>
                  </a:ext>
                </a:extLst>
              </p:cNvPr>
              <p:cNvSpPr txBox="1"/>
              <p:nvPr/>
            </p:nvSpPr>
            <p:spPr>
              <a:xfrm>
                <a:off x="5895435" y="3026060"/>
                <a:ext cx="5394020" cy="89646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dirty="0"/>
                  <a:t>   </a:t>
                </a:r>
                <a:r>
                  <a:rPr lang="he-IL" sz="1600" b="1" dirty="0">
                    <a:solidFill>
                      <a:schemeClr val="accent6">
                        <a:lumMod val="75000"/>
                      </a:schemeClr>
                    </a:solidFill>
                  </a:rPr>
                  <a:t>הנחת המודל : </a:t>
                </a:r>
                <a:endParaRPr lang="en-US" sz="16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he-IL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he-IL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he-IL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he-IL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he-IL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he-IL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he-IL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he-IL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he-IL" sz="1600" b="0" i="1" smtClean="0">
                          <a:latin typeface="Cambria Math" panose="02040503050406030204" pitchFamily="18" charset="0"/>
                        </a:rPr>
                        <m:t>אחרת</m:t>
                      </m:r>
                      <m:r>
                        <a:rPr lang="he-IL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3" name="תיבת טקסט 12">
                <a:extLst>
                  <a:ext uri="{FF2B5EF4-FFF2-40B4-BE49-F238E27FC236}">
                    <a16:creationId xmlns:a16="http://schemas.microsoft.com/office/drawing/2014/main" id="{74C623F3-5278-56A1-66F7-A9156A0FE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35" y="3026060"/>
                <a:ext cx="5394020" cy="896464"/>
              </a:xfrm>
              <a:prstGeom prst="rect">
                <a:avLst/>
              </a:prstGeom>
              <a:blipFill>
                <a:blip r:embed="rId5"/>
                <a:stretch>
                  <a:fillRect t="-3401" b="-816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תמונה 9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52F3F07D-A178-41A7-E228-9CC55C917AA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46" r="4377"/>
          <a:stretch/>
        </p:blipFill>
        <p:spPr>
          <a:xfrm>
            <a:off x="7867872" y="3902945"/>
            <a:ext cx="4308244" cy="128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EF06F8B5-B7F2-BB5B-8A48-DEAC762EB9ED}"/>
                  </a:ext>
                </a:extLst>
              </p:cNvPr>
              <p:cNvSpPr txBox="1"/>
              <p:nvPr/>
            </p:nvSpPr>
            <p:spPr>
              <a:xfrm>
                <a:off x="4926563" y="3984237"/>
                <a:ext cx="2995432" cy="138499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𝑝𝑣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010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he-IL" sz="1600" dirty="0"/>
                  <a:t> ולכן נדחה את </a:t>
                </a:r>
                <a14:m>
                  <m:oMath xmlns:m="http://schemas.openxmlformats.org/officeDocument/2006/math">
                    <m:r>
                      <a:rPr lang="he-IL" sz="16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he-IL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1600" dirty="0"/>
                  <a:t>בכל ר״מ סבירה. </a:t>
                </a:r>
                <a:r>
                  <a:rPr lang="he-IL" sz="1600" dirty="0">
                    <a:highlight>
                      <a:srgbClr val="FFFF00"/>
                    </a:highlight>
                  </a:rPr>
                  <a:t>ונאמר כי קיים הבדל מובהק בתוחלת זמן ההמתנה בתור לקופה בין 3 </a:t>
                </a:r>
                <a:r>
                  <a:rPr lang="he-IL" sz="1600" dirty="0" err="1">
                    <a:highlight>
                      <a:srgbClr val="FFFF00"/>
                    </a:highlight>
                  </a:rPr>
                  <a:t>המיקומות</a:t>
                </a:r>
                <a:r>
                  <a:rPr lang="he-IL" dirty="0"/>
                  <a:t>.</a:t>
                </a:r>
              </a:p>
            </p:txBody>
          </p:sp>
        </mc:Choice>
        <mc:Fallback xmlns="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EF06F8B5-B7F2-BB5B-8A48-DEAC762EB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563" y="3984237"/>
                <a:ext cx="2995432" cy="1384995"/>
              </a:xfrm>
              <a:prstGeom prst="rect">
                <a:avLst/>
              </a:prstGeom>
              <a:blipFill>
                <a:blip r:embed="rId7"/>
                <a:stretch>
                  <a:fillRect l="-2846" t="-2643" r="-1626" b="-616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תמונה 21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F2465CDD-63C8-1E1C-B58C-533AE491F8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3511" y="5191745"/>
            <a:ext cx="3462605" cy="1645952"/>
          </a:xfrm>
          <a:prstGeom prst="rect">
            <a:avLst/>
          </a:prstGeom>
        </p:spPr>
      </p:pic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67DCD178-C90F-4771-E032-2A32106BAFCC}"/>
              </a:ext>
            </a:extLst>
          </p:cNvPr>
          <p:cNvSpPr txBox="1"/>
          <p:nvPr/>
        </p:nvSpPr>
        <p:spPr>
          <a:xfrm>
            <a:off x="4755221" y="5724297"/>
            <a:ext cx="4107487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effectLst/>
                <a:latin typeface="David" panose="020E0502060401010101" pitchFamily="34" charset="-79"/>
              </a:rPr>
              <a:t>לפי מבחן</a:t>
            </a:r>
            <a:r>
              <a:rPr lang="he-IL" sz="1600" dirty="0">
                <a:effectLst/>
                <a:latin typeface="Rockwell" panose="02060603020205020403" pitchFamily="18" charset="0"/>
              </a:rPr>
              <a:t> </a:t>
            </a:r>
            <a:r>
              <a:rPr lang="en" sz="1600" dirty="0">
                <a:effectLst/>
                <a:latin typeface="Rockwell" panose="02060603020205020403" pitchFamily="18" charset="0"/>
              </a:rPr>
              <a:t>Duncan</a:t>
            </a:r>
            <a:r>
              <a:rPr lang="en" sz="1600" dirty="0">
                <a:effectLst/>
                <a:latin typeface="David" panose="020E0502060401010101" pitchFamily="34" charset="-79"/>
              </a:rPr>
              <a:t> </a:t>
            </a:r>
            <a:r>
              <a:rPr lang="he-IL" sz="1600" dirty="0">
                <a:effectLst/>
                <a:latin typeface="David" panose="020E0502060401010101" pitchFamily="34" charset="-79"/>
              </a:rPr>
              <a:t> ניתן לראות כי זמן ההמתנה בתור לקופה בסופר הממוקם במרכז הארץ הינו נמוך באופן מובהק מזמני ההמתנה בתור לקופה בסופרים הממוקמים בצפון/ בדרום הארץ. </a:t>
            </a:r>
            <a:endParaRPr lang="he-IL" sz="1600" dirty="0">
              <a:effectLst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5F64B746-126A-1D84-268E-99684DFADB6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23" r="1178"/>
          <a:stretch/>
        </p:blipFill>
        <p:spPr>
          <a:xfrm>
            <a:off x="0" y="1360351"/>
            <a:ext cx="4518624" cy="1841152"/>
          </a:xfrm>
          <a:prstGeom prst="rect">
            <a:avLst/>
          </a:prstGeom>
        </p:spPr>
      </p:pic>
      <p:cxnSp>
        <p:nvCxnSpPr>
          <p:cNvPr id="24" name="מחבר ישר 23">
            <a:extLst>
              <a:ext uri="{FF2B5EF4-FFF2-40B4-BE49-F238E27FC236}">
                <a16:creationId xmlns:a16="http://schemas.microsoft.com/office/drawing/2014/main" id="{877C4FF0-1A10-8852-8646-56FE0977FFBB}"/>
              </a:ext>
            </a:extLst>
          </p:cNvPr>
          <p:cNvCxnSpPr>
            <a:cxnSpLocks/>
          </p:cNvCxnSpPr>
          <p:nvPr/>
        </p:nvCxnSpPr>
        <p:spPr>
          <a:xfrm>
            <a:off x="4560029" y="1323022"/>
            <a:ext cx="0" cy="553497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4EB209BC-879B-0A31-6D18-84B0DB24FA69}"/>
                  </a:ext>
                </a:extLst>
              </p:cNvPr>
              <p:cNvSpPr txBox="1"/>
              <p:nvPr/>
            </p:nvSpPr>
            <p:spPr>
              <a:xfrm>
                <a:off x="53329" y="3170796"/>
                <a:ext cx="4518625" cy="3728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he-IL" sz="1050" b="1" u="sng" dirty="0">
                    <a:solidFill>
                      <a:srgbClr val="C00000"/>
                    </a:solidFill>
                    <a:cs typeface="+mj-cs"/>
                  </a:rPr>
                  <a:t>רווח סמך להפרש </a:t>
                </a:r>
                <a:r>
                  <a:rPr lang="he-IL" sz="1050" b="1" u="sng" dirty="0" err="1">
                    <a:solidFill>
                      <a:srgbClr val="C00000"/>
                    </a:solidFill>
                    <a:cs typeface="+mj-cs"/>
                  </a:rPr>
                  <a:t>התוחלות</a:t>
                </a:r>
                <a:r>
                  <a:rPr lang="en-US" sz="1050" b="1" u="sng" dirty="0">
                    <a:solidFill>
                      <a:srgbClr val="C00000"/>
                    </a:solidFill>
                    <a:cs typeface="+mj-cs"/>
                  </a:rPr>
                  <a:t>: </a:t>
                </a:r>
                <a:endParaRPr lang="he-IL" sz="1050" b="1" u="sng" dirty="0">
                  <a:solidFill>
                    <a:srgbClr val="C00000"/>
                  </a:solidFill>
                  <a:cs typeface="+mj-cs"/>
                </a:endParaRPr>
              </a:p>
              <a:p>
                <a:endParaRPr lang="he-IL" sz="400" b="1" u="sng" dirty="0">
                  <a:solidFill>
                    <a:srgbClr val="C00000"/>
                  </a:solidFill>
                  <a:cs typeface="+mj-cs"/>
                </a:endParaRPr>
              </a:p>
              <a:p>
                <a:r>
                  <a:rPr lang="he-IL" sz="1050" dirty="0" err="1"/>
                  <a:t>בר״ס</a:t>
                </a:r>
                <a:r>
                  <a:rPr lang="he-IL" sz="1050" dirty="0"/>
                  <a:t> של 95% ניתן לראות כי</a:t>
                </a:r>
                <a:r>
                  <a:rPr lang="he-IL" sz="1050"/>
                  <a:t>: </a:t>
                </a:r>
              </a:p>
              <a:p>
                <a:endParaRPr lang="he-IL" sz="1000" dirty="0"/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sz="105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05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0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d>
                      <m:dPr>
                        <m:begChr m:val="["/>
                        <m:endChr m:val="]"/>
                        <m:ctrlPr>
                          <a:rPr lang="he-IL" sz="105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6224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9957</m:t>
                        </m:r>
                      </m:e>
                    </m:d>
                    <m:r>
                      <a:rPr lang="en-US" sz="105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05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−,</m:t>
                        </m:r>
                        <m:r>
                          <m:rPr>
                            <m:lit/>
                          </m:rP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sz="105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5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5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050" dirty="0"/>
              </a:p>
              <a:p>
                <a:endParaRPr lang="en-US" sz="105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d>
                        <m:dPr>
                          <m:begChr m:val="["/>
                          <m:endChr m:val="]"/>
                          <m:ctrlPr>
                            <a:rPr lang="he-IL" sz="105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1751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, −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4458</m:t>
                          </m:r>
                        </m:e>
                      </m:d>
                      <m:r>
                        <a:rPr lang="en-US" sz="105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  <m:t>−,−</m:t>
                          </m:r>
                        </m:e>
                      </m:d>
                      <m:r>
                        <a:rPr lang="en-US" sz="105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  <a:p>
                <a:endParaRPr lang="en-US" sz="105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d>
                        <m:dPr>
                          <m:begChr m:val="["/>
                          <m:endChr m:val="]"/>
                          <m:ctrlPr>
                            <a:rPr lang="he-IL" sz="105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2031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e-IL" sz="1050" i="1" dirty="0">
                              <a:latin typeface="Cambria Math" panose="02040503050406030204" pitchFamily="18" charset="0"/>
                            </a:rPr>
                            <m:t>2090</m:t>
                          </m:r>
                        </m:e>
                      </m:d>
                      <m:r>
                        <a:rPr lang="en-US" sz="105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lit/>
                            </m:rP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sz="105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 sz="1050" dirty="0"/>
              </a:p>
              <a:p>
                <a:endParaRPr lang="he-IL" sz="1050" dirty="0"/>
              </a:p>
              <a:p>
                <a:r>
                  <a:rPr lang="he-IL" sz="1050" dirty="0"/>
                  <a:t>תוחלת זמן ההמתנה בצפון שווה לתוחלת זמן ההמתנה בדרום(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5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1050" dirty="0"/>
                  <a:t>), ר״ס</a:t>
                </a:r>
                <a14:m>
                  <m:oMath xmlns:m="http://schemas.openxmlformats.org/officeDocument/2006/math">
                    <m:r>
                      <a:rPr lang="he-IL" sz="1050" i="1" dirty="0">
                        <a:latin typeface="Cambria Math" panose="02040503050406030204" pitchFamily="18" charset="0"/>
                      </a:rPr>
                      <m:t>[−</m:t>
                    </m:r>
                    <m:r>
                      <a:rPr lang="he-IL" sz="105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he-IL" sz="105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he-IL" sz="1050" i="1" dirty="0">
                        <a:latin typeface="Cambria Math" panose="02040503050406030204" pitchFamily="18" charset="0"/>
                      </a:rPr>
                      <m:t>6224</m:t>
                    </m:r>
                    <m:r>
                      <a:rPr lang="he-IL" sz="105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he-IL" sz="105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he-IL" sz="105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he-IL" sz="1050" i="1" dirty="0">
                        <a:latin typeface="Cambria Math" panose="02040503050406030204" pitchFamily="18" charset="0"/>
                      </a:rPr>
                      <m:t>9957</m:t>
                    </m:r>
                    <m:r>
                      <a:rPr lang="he-IL" sz="1050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he-IL" sz="1050" dirty="0"/>
                  <a:t>כולל את האפס, ולכן אם נבצע את הניסוי אינסוף פעמים אז תוחלת ההפרש תנוע בתוחם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he-IL" sz="105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6224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9957</m:t>
                        </m:r>
                      </m:e>
                    </m:d>
                  </m:oMath>
                </a14:m>
                <a:r>
                  <a:rPr lang="he-IL" sz="1050" dirty="0"/>
                  <a:t> בסיכוי של 0.95 ולא תהיה בתחום בסיכוי 5%, (</a:t>
                </a:r>
                <a14:m>
                  <m:oMath xmlns:m="http://schemas.openxmlformats.org/officeDocument/2006/math">
                    <m:r>
                      <a:rPr lang="en-US" sz="105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" sz="1050" dirty="0"/>
                      <m:t>Sig</m:t>
                    </m:r>
                    <m:r>
                      <m:rPr>
                        <m:nor/>
                      </m:rPr>
                      <a:rPr lang="en" sz="1050" dirty="0"/>
                      <m:t>=</m:t>
                    </m:r>
                    <m:r>
                      <m:rPr>
                        <m:nor/>
                      </m:rPr>
                      <a:rPr lang="he-IL" sz="1050" b="0" i="0" dirty="0" smtClean="0"/>
                      <m:t>0.835</m:t>
                    </m:r>
                    <m:r>
                      <m:rPr>
                        <m:nor/>
                      </m:rPr>
                      <a:rPr lang="en-US" sz="1050" dirty="0"/>
                      <m:t>&gt;</m:t>
                    </m:r>
                    <m:r>
                      <a:rPr lang="en-US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he-IL" sz="1050" dirty="0"/>
              </a:p>
              <a:p>
                <a:r>
                  <a:rPr lang="he-IL" sz="1050" dirty="0"/>
                  <a:t> </a:t>
                </a:r>
              </a:p>
              <a:p>
                <a:r>
                  <a:rPr lang="he-IL" sz="1050" dirty="0"/>
                  <a:t>תוחלת זמן ההמתנה בצפון קטנה מתוחלת זמן ההמתנה במרכז(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5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05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he-IL" sz="1050" dirty="0"/>
                  <a:t>), ולכן אם נבצע את הניסוי אינסוף פעמים אז תוחלת ההפרש תנוע בתוחם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he-IL" sz="105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1751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4458</m:t>
                        </m:r>
                      </m:e>
                    </m:d>
                  </m:oMath>
                </a14:m>
                <a:r>
                  <a:rPr lang="he-IL" sz="1050" dirty="0"/>
                  <a:t> [ בסיכוי של 0.95 ולא תהיה בתחום בסיכוי 5%, </a:t>
                </a:r>
                <a14:m>
                  <m:oMath xmlns:m="http://schemas.openxmlformats.org/officeDocument/2006/math">
                    <m:r>
                      <a:rPr lang="en-US" sz="105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" sz="1050" dirty="0"/>
                      <m:t>Sig</m:t>
                    </m:r>
                    <m:r>
                      <m:rPr>
                        <m:nor/>
                      </m:rPr>
                      <a:rPr lang="en" sz="1050" dirty="0"/>
                      <m:t>=</m:t>
                    </m:r>
                    <m:r>
                      <m:rPr>
                        <m:nor/>
                      </m:rPr>
                      <a:rPr lang="he-IL" sz="1050" dirty="0"/>
                      <m:t>0.</m:t>
                    </m:r>
                    <m:r>
                      <m:rPr>
                        <m:nor/>
                      </m:rPr>
                      <a:rPr lang="he-IL" sz="1050" b="0" i="0" dirty="0" smtClean="0"/>
                      <m:t>009</m:t>
                    </m:r>
                    <m:r>
                      <m:rPr>
                        <m:nor/>
                      </m:rPr>
                      <a:rPr lang="he-IL" sz="1050" b="0" i="0" dirty="0" smtClean="0"/>
                      <m:t>&gt;</m:t>
                    </m:r>
                    <m:r>
                      <a:rPr lang="en-US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he-IL" sz="1050" dirty="0"/>
              </a:p>
              <a:p>
                <a:r>
                  <a:rPr lang="he-IL" sz="1050" dirty="0"/>
                  <a:t> </a:t>
                </a:r>
              </a:p>
              <a:p>
                <a:r>
                  <a:rPr lang="he-IL" sz="1050" dirty="0"/>
                  <a:t>תוחלת זמן ההמתנה בדרום שווה לתוחלת זמן ההמתנה במרכז(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05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he-IL" sz="1050" dirty="0"/>
                  <a:t>), ר״ס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he-IL" sz="105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2031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2090</m:t>
                        </m:r>
                      </m:e>
                    </m:d>
                  </m:oMath>
                </a14:m>
                <a:r>
                  <a:rPr lang="he-IL" sz="1050" dirty="0"/>
                  <a:t>כולל את האפס, ולכן אם נבצע את הניסוי אינסוף פעמים אז תוחלת ההפרש תנוע בתוחם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he-IL" sz="105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6224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he-IL" sz="1050" i="1" dirty="0">
                            <a:latin typeface="Cambria Math" panose="02040503050406030204" pitchFamily="18" charset="0"/>
                          </a:rPr>
                          <m:t>9957</m:t>
                        </m:r>
                      </m:e>
                    </m:d>
                  </m:oMath>
                </a14:m>
                <a:r>
                  <a:rPr lang="he-IL" sz="1050" dirty="0"/>
                  <a:t> בסיכוי של 0.95 ולא תהיה בתחום בסיכוי 5%, (</a:t>
                </a:r>
                <a14:m>
                  <m:oMath xmlns:m="http://schemas.openxmlformats.org/officeDocument/2006/math">
                    <m:r>
                      <a:rPr lang="en-US" sz="105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" sz="1050" dirty="0"/>
                      <m:t>Sig</m:t>
                    </m:r>
                    <m:r>
                      <m:rPr>
                        <m:nor/>
                      </m:rPr>
                      <a:rPr lang="en" sz="1050" dirty="0" smtClean="0"/>
                      <m:t>=</m:t>
                    </m:r>
                    <m:r>
                      <m:rPr>
                        <m:nor/>
                      </m:rPr>
                      <a:rPr lang="he-IL" sz="1050" b="0" i="0" dirty="0" smtClean="0"/>
                      <m:t>0.106</m:t>
                    </m:r>
                    <m:r>
                      <m:rPr>
                        <m:nor/>
                      </m:rPr>
                      <a:rPr lang="en-US" sz="1050" dirty="0"/>
                      <m:t>&gt;</m:t>
                    </m:r>
                    <m:r>
                      <a:rPr lang="en-US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he-IL" sz="1050" dirty="0"/>
              </a:p>
            </p:txBody>
          </p:sp>
        </mc:Choice>
        <mc:Fallback xmlns="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4EB209BC-879B-0A31-6D18-84B0DB24F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9" y="3170796"/>
                <a:ext cx="4518625" cy="37284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3739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D900F2-0E5E-169C-9857-9AEAEB2C5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7981"/>
            <a:ext cx="10515600" cy="1076195"/>
          </a:xfrm>
        </p:spPr>
        <p:txBody>
          <a:bodyPr/>
          <a:lstStyle/>
          <a:p>
            <a:pPr algn="ctr"/>
            <a:r>
              <a:rPr lang="he-IL" b="1" dirty="0">
                <a:solidFill>
                  <a:schemeClr val="accent1"/>
                </a:solidFill>
              </a:rPr>
              <a:t>ניתוח שונות דו כיוונית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52CEDAD-5C3B-48DC-584C-4C92A8321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624" y="950020"/>
            <a:ext cx="11959068" cy="5824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1800" dirty="0"/>
              <a:t>במבחן זה נרצה לבחון האם קיים הבדל מובהק בין משמרת- </a:t>
            </a:r>
            <a:r>
              <a:rPr lang="en-US" sz="1800" dirty="0"/>
              <a:t> time</a:t>
            </a:r>
            <a:r>
              <a:rPr lang="he-IL" sz="1800" dirty="0"/>
              <a:t> (בוקר2 / ערב 1) ומיקום- </a:t>
            </a:r>
            <a:r>
              <a:rPr lang="en-US" sz="1800" dirty="0"/>
              <a:t>location</a:t>
            </a:r>
            <a:r>
              <a:rPr lang="he-IL" sz="1800" dirty="0"/>
              <a:t> (צפון1 \ מרכז2/ דרום3) על זמן ההמתנה בתור (לשם נוחות לקחנו 8 תצפיות מכל צירוף 5*8).</a:t>
            </a:r>
          </a:p>
          <a:p>
            <a:pPr marL="0" indent="0">
              <a:buNone/>
            </a:pPr>
            <a:endParaRPr lang="he-IL" dirty="0"/>
          </a:p>
          <a:p>
            <a:endParaRPr lang="he-IL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802A97D-4E4D-DC40-E354-EBCDD062DDA9}"/>
              </a:ext>
            </a:extLst>
          </p:cNvPr>
          <p:cNvSpPr txBox="1"/>
          <p:nvPr/>
        </p:nvSpPr>
        <p:spPr>
          <a:xfrm>
            <a:off x="479403" y="1484353"/>
            <a:ext cx="1161929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 לפי מבחן </a:t>
            </a:r>
            <a:r>
              <a:rPr lang="he-IL" dirty="0" err="1"/>
              <a:t>קולמגוקוב</a:t>
            </a:r>
            <a:r>
              <a:rPr lang="he-IL" dirty="0"/>
              <a:t> קיבלנו כי 3 המקומות ההתפלגו נורמלית ( </a:t>
            </a:r>
            <a:r>
              <a:rPr lang="en-US" dirty="0"/>
              <a:t>sig</a:t>
            </a:r>
            <a:r>
              <a:rPr lang="he-IL" dirty="0"/>
              <a:t>&gt;0.05 ) וגם שתי הקבוצות (משמרות) </a:t>
            </a:r>
            <a:r>
              <a:rPr lang="he-IL"/>
              <a:t>מתפלגות נורמלית         </a:t>
            </a:r>
            <a:r>
              <a:rPr lang="en-US" dirty="0"/>
              <a:t>( sig&gt;0.05 ) </a:t>
            </a:r>
            <a:r>
              <a:rPr lang="he-IL" dirty="0"/>
              <a:t> ,וע״פ מבחן לווין מתקיים כי </a:t>
            </a:r>
            <a:r>
              <a:rPr lang="en-US" dirty="0"/>
              <a:t> ( sig&gt;0.05 ) </a:t>
            </a:r>
            <a:r>
              <a:rPr lang="he-IL" dirty="0"/>
              <a:t>ולכן בר״מ של 5% </a:t>
            </a:r>
            <a:r>
              <a:rPr lang="he-IL" dirty="0" err="1"/>
              <a:t>השונויות</a:t>
            </a:r>
            <a:r>
              <a:rPr lang="he-IL" dirty="0"/>
              <a:t> שוות. </a:t>
            </a:r>
          </a:p>
          <a:p>
            <a:pPr algn="r"/>
            <a:endParaRPr lang="he-IL" dirty="0"/>
          </a:p>
          <a:p>
            <a:endParaRPr lang="he-IL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7D2F7C93-FFB4-2396-D1AE-4894986BB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662" y="3568815"/>
            <a:ext cx="4865030" cy="28287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F697192D-6BF5-56AD-0C17-D5635ACD2156}"/>
                  </a:ext>
                </a:extLst>
              </p:cNvPr>
              <p:cNvSpPr txBox="1"/>
              <p:nvPr/>
            </p:nvSpPr>
            <p:spPr>
              <a:xfrm>
                <a:off x="3191069" y="2162232"/>
                <a:ext cx="7638997" cy="210403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dirty="0"/>
                  <a:t>   </a:t>
                </a:r>
                <a:r>
                  <a:rPr lang="he-IL" b="1" u="sng" dirty="0"/>
                  <a:t>מבחני השערה: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he-IL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he-IL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he-IL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b="0" i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he-IL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e-IL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he-IL" b="0" i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he-IL" dirty="0">
                    <a:solidFill>
                      <a:schemeClr val="accent2">
                        <a:lumMod val="75000"/>
                      </a:schemeClr>
                    </a:solidFill>
                  </a:rPr>
                  <a:t>1           </a:t>
                </a:r>
                <a:r>
                  <a:rPr lang="he-IL" dirty="0">
                    <a:solidFill>
                      <a:schemeClr val="accent6">
                        <a:lumMod val="75000"/>
                      </a:schemeClr>
                    </a:solidFill>
                  </a:rPr>
                  <a:t>2)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e-IL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he-IL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he-IL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he-IL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e-IL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he-IL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e-IL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he-IL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he-IL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he-IL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אחרת</m:t>
                    </m:r>
                    <m:r>
                      <a:rPr lang="he-IL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he-I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dirty="0"/>
                  <a:t>                     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  <m:r>
                      <a:rPr lang="he-IL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אחרת</m:t>
                    </m:r>
                  </m:oMath>
                </a14:m>
                <a:r>
                  <a:rPr lang="he-IL" dirty="0">
                    <a:solidFill>
                      <a:schemeClr val="accent6">
                        <a:lumMod val="75000"/>
                      </a:schemeClr>
                    </a:solidFill>
                  </a:rPr>
                  <a:t>    </a:t>
                </a:r>
                <a:endParaRPr lang="en-US" dirty="0"/>
              </a:p>
              <a:p>
                <a:pPr algn="r" rtl="0"/>
                <a:endParaRPr lang="he-IL" dirty="0"/>
              </a:p>
              <a:p>
                <a:r>
                  <a:rPr lang="en-US" dirty="0"/>
                  <a:t> </a:t>
                </a: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F697192D-6BF5-56AD-0C17-D5635ACD2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069" y="2162232"/>
                <a:ext cx="7638997" cy="2104038"/>
              </a:xfrm>
              <a:prstGeom prst="rect">
                <a:avLst/>
              </a:prstGeom>
              <a:blipFill>
                <a:blip r:embed="rId3"/>
                <a:stretch>
                  <a:fillRect t="-1739" r="-71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77936480-5FA1-9BE5-A3BC-D6169A12B98E}"/>
                  </a:ext>
                </a:extLst>
              </p:cNvPr>
              <p:cNvSpPr txBox="1"/>
              <p:nvPr/>
            </p:nvSpPr>
            <p:spPr>
              <a:xfrm>
                <a:off x="479402" y="2420817"/>
                <a:ext cx="5423334" cy="95712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he-IL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he-IL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he-IL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he-IL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𝜏𝛽</m:t>
                        </m:r>
                        <m:r>
                          <a:rPr lang="he-IL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he-IL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e-IL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he-IL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𝜏𝛽</m:t>
                        </m:r>
                        <m:r>
                          <a:rPr lang="he-IL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he-IL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e-IL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he-IL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𝜏𝛽</m:t>
                        </m:r>
                        <m:r>
                          <a:rPr lang="he-IL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he-IL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=…</m:t>
                    </m:r>
                    <m:r>
                      <a:rPr lang="he-IL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he-IL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e-IL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he-IL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𝜏𝛽</m:t>
                        </m:r>
                        <m:r>
                          <a:rPr lang="he-IL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23</m:t>
                        </m:r>
                      </m:sub>
                      <m:sup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(3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he-I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he-I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e-I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אחרת</m:t>
                      </m:r>
                      <m:r>
                        <a:rPr lang="he-I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77936480-5FA1-9BE5-A3BC-D6169A12B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02" y="2420817"/>
                <a:ext cx="5423334" cy="957121"/>
              </a:xfrm>
              <a:prstGeom prst="rect">
                <a:avLst/>
              </a:prstGeom>
              <a:blipFill>
                <a:blip r:embed="rId4"/>
                <a:stretch>
                  <a:fillRect r="-1125" b="-95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33C7259E-2505-A485-EDD7-22A77227637C}"/>
              </a:ext>
            </a:extLst>
          </p:cNvPr>
          <p:cNvSpPr txBox="1"/>
          <p:nvPr/>
        </p:nvSpPr>
        <p:spPr>
          <a:xfrm>
            <a:off x="93308" y="3377938"/>
            <a:ext cx="7270269" cy="36933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endParaRPr lang="he-IL" b="1" u="sng" dirty="0"/>
          </a:p>
          <a:p>
            <a:pPr algn="r"/>
            <a:r>
              <a:rPr lang="he-IL" b="1" u="sng" dirty="0"/>
              <a:t>מסקנות מהטבלה:</a:t>
            </a:r>
          </a:p>
          <a:p>
            <a:pPr marL="342900" indent="-342900" algn="r">
              <a:buAutoNum type="arabicParenR"/>
            </a:pPr>
            <a:r>
              <a:rPr lang="he-IL" dirty="0">
                <a:solidFill>
                  <a:schemeClr val="accent2">
                    <a:lumMod val="75000"/>
                  </a:schemeClr>
                </a:solidFill>
              </a:rPr>
              <a:t>ניתן לראות כי עבור גורם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he-IL" dirty="0">
                <a:solidFill>
                  <a:schemeClr val="accent2">
                    <a:lumMod val="75000"/>
                  </a:schemeClr>
                </a:solidFill>
              </a:rPr>
              <a:t> שהוא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time</a:t>
            </a:r>
            <a:r>
              <a:rPr lang="he-IL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(sig=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pv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=0.162&gt;0.05) </a:t>
            </a:r>
            <a:r>
              <a:rPr lang="he-IL" dirty="0">
                <a:solidFill>
                  <a:schemeClr val="accent2">
                    <a:lumMod val="75000"/>
                  </a:schemeClr>
                </a:solidFill>
              </a:rPr>
              <a:t> ולכן נחליט כי לא לדחות את השערת האפס בר"מ של 5% כלומר המשמרת לא משפיע על אורך זמן ההמתנה בטור.</a:t>
            </a:r>
          </a:p>
          <a:p>
            <a:pPr marL="342900" indent="-342900" algn="r">
              <a:buAutoNum type="arabicParenR"/>
            </a:pPr>
            <a:r>
              <a:rPr lang="he-IL" dirty="0">
                <a:solidFill>
                  <a:schemeClr val="accent6">
                    <a:lumMod val="75000"/>
                  </a:schemeClr>
                </a:solidFill>
              </a:rPr>
              <a:t>ניתן לראות כי עבור גורם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 </a:t>
            </a:r>
            <a:r>
              <a:rPr lang="ar-AE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he-IL" dirty="0">
                <a:solidFill>
                  <a:schemeClr val="accent6">
                    <a:lumMod val="75000"/>
                  </a:schemeClr>
                </a:solidFill>
              </a:rPr>
              <a:t>שהוא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(sig=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pv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=0.029&gt;0.05) location</a:t>
            </a:r>
            <a:r>
              <a:rPr lang="he-IL" dirty="0">
                <a:solidFill>
                  <a:schemeClr val="accent6">
                    <a:lumMod val="75000"/>
                  </a:schemeClr>
                </a:solidFill>
              </a:rPr>
              <a:t> ולכן נחליט כי יש לדחות של 5%את השערת האפס בר"מ של 5% כלומר המיקום משפיע על אורך זמן ההמתנה בתור.</a:t>
            </a:r>
          </a:p>
          <a:p>
            <a:pPr marL="342900" indent="-342900" algn="r">
              <a:buAutoNum type="arabicParenR"/>
            </a:pPr>
            <a:r>
              <a:rPr lang="he-IL" dirty="0">
                <a:solidFill>
                  <a:srgbClr val="0070C0"/>
                </a:solidFill>
              </a:rPr>
              <a:t>ניתן לראות כי עבור גורם </a:t>
            </a:r>
            <a:r>
              <a:rPr lang="en-US" dirty="0">
                <a:solidFill>
                  <a:srgbClr val="0070C0"/>
                </a:solidFill>
              </a:rPr>
              <a:t> AB  </a:t>
            </a:r>
            <a:r>
              <a:rPr lang="he-IL" dirty="0">
                <a:solidFill>
                  <a:srgbClr val="0070C0"/>
                </a:solidFill>
              </a:rPr>
              <a:t>שהוא אינטראקציה בין זמן המשמרת והמיקום </a:t>
            </a:r>
            <a:r>
              <a:rPr lang="en-US" dirty="0">
                <a:solidFill>
                  <a:srgbClr val="0070C0"/>
                </a:solidFill>
              </a:rPr>
              <a:t> (sig=</a:t>
            </a:r>
            <a:r>
              <a:rPr lang="en-US" dirty="0" err="1">
                <a:solidFill>
                  <a:srgbClr val="0070C0"/>
                </a:solidFill>
              </a:rPr>
              <a:t>pv</a:t>
            </a:r>
            <a:r>
              <a:rPr lang="en-US" dirty="0">
                <a:solidFill>
                  <a:srgbClr val="0070C0"/>
                </a:solidFill>
              </a:rPr>
              <a:t>=0.000&gt;0.05) </a:t>
            </a:r>
            <a:r>
              <a:rPr lang="he-IL" dirty="0">
                <a:solidFill>
                  <a:srgbClr val="0070C0"/>
                </a:solidFill>
              </a:rPr>
              <a:t>ולכן נחליט כי יש לדחות של  5% את השערת האפס בר"מ של 5% כלומר האינטראקציה בין זמן המשמרת והמיקום  משפיעה על אורך זמן ההמתנה בתור.</a:t>
            </a:r>
          </a:p>
          <a:p>
            <a:pPr algn="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52512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F8FC5BA-8DB4-8702-EBFD-04FC5DC36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407" y="244256"/>
            <a:ext cx="10515600" cy="859598"/>
          </a:xfrm>
        </p:spPr>
        <p:txBody>
          <a:bodyPr>
            <a:normAutofit/>
          </a:bodyPr>
          <a:lstStyle/>
          <a:p>
            <a:pPr algn="l"/>
            <a:r>
              <a:rPr lang="he-IL" sz="3600" b="1" dirty="0">
                <a:solidFill>
                  <a:schemeClr val="accent1"/>
                </a:solidFill>
              </a:rPr>
              <a:t>רגרסיה ליניארית פשוטה</a:t>
            </a:r>
            <a:endParaRPr lang="he-IL" b="1" dirty="0">
              <a:solidFill>
                <a:schemeClr val="accent1"/>
              </a:solidFill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80EEC2D9-4E18-281A-C944-86344BD460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254" t="6894" r="-378" b="6051"/>
          <a:stretch/>
        </p:blipFill>
        <p:spPr>
          <a:xfrm>
            <a:off x="-64177" y="167338"/>
            <a:ext cx="6225702" cy="3297656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2501DC2F-CE31-3F14-264E-859367BFC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197" y="2866743"/>
            <a:ext cx="5972556" cy="1751076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AA635DDB-8935-F331-470F-7407624E18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8375" y="1312564"/>
            <a:ext cx="5312091" cy="1554179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45256770-F102-C37B-099B-41F0D9C85F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2631" y="4850655"/>
            <a:ext cx="5972556" cy="1522476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90EFA985-E213-9B45-AB88-E1B0BA90BB2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-7025" b="1"/>
          <a:stretch/>
        </p:blipFill>
        <p:spPr>
          <a:xfrm>
            <a:off x="-17993" y="3429000"/>
            <a:ext cx="5437762" cy="3414636"/>
          </a:xfrm>
          <a:prstGeom prst="rect">
            <a:avLst/>
          </a:prstGeom>
        </p:spPr>
      </p:pic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595B8DBA-B16A-98DF-814A-335CC8E758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8119017"/>
              </p:ext>
            </p:extLst>
          </p:nvPr>
        </p:nvGraphicFramePr>
        <p:xfrm>
          <a:off x="4976350" y="4575327"/>
          <a:ext cx="3162300" cy="2228664"/>
        </p:xfrm>
        <a:graphic>
          <a:graphicData uri="http://schemas.openxmlformats.org/drawingml/2006/table">
            <a:tbl>
              <a:tblPr/>
              <a:tblGrid>
                <a:gridCol w="928066">
                  <a:extLst>
                    <a:ext uri="{9D8B030D-6E8A-4147-A177-3AD203B41FA5}">
                      <a16:colId xmlns:a16="http://schemas.microsoft.com/office/drawing/2014/main" val="3487479378"/>
                    </a:ext>
                  </a:extLst>
                </a:gridCol>
                <a:gridCol w="928066">
                  <a:extLst>
                    <a:ext uri="{9D8B030D-6E8A-4147-A177-3AD203B41FA5}">
                      <a16:colId xmlns:a16="http://schemas.microsoft.com/office/drawing/2014/main" val="1652717357"/>
                    </a:ext>
                  </a:extLst>
                </a:gridCol>
                <a:gridCol w="656800">
                  <a:extLst>
                    <a:ext uri="{9D8B030D-6E8A-4147-A177-3AD203B41FA5}">
                      <a16:colId xmlns:a16="http://schemas.microsoft.com/office/drawing/2014/main" val="3136036467"/>
                    </a:ext>
                  </a:extLst>
                </a:gridCol>
                <a:gridCol w="649368">
                  <a:extLst>
                    <a:ext uri="{9D8B030D-6E8A-4147-A177-3AD203B41FA5}">
                      <a16:colId xmlns:a16="http://schemas.microsoft.com/office/drawing/2014/main" val="311592401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10205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Correlations</a:t>
                      </a:r>
                      <a:endParaRPr lang="en-US" sz="1100" dirty="0">
                        <a:effectLst/>
                        <a:highlight>
                          <a:srgbClr val="FFFFFF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9485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100" dirty="0">
                        <a:effectLst/>
                        <a:highlight>
                          <a:srgbClr val="FFFFFF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52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rgbClr val="264A6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Wating_Time</a:t>
                      </a:r>
                      <a:endParaRPr lang="en-US" sz="1100">
                        <a:effectLst/>
                        <a:highlight>
                          <a:srgbClr val="FFFFFF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152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 err="1">
                          <a:solidFill>
                            <a:srgbClr val="264A6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Cashier_Age</a:t>
                      </a:r>
                      <a:endParaRPr lang="en-US" sz="1100" dirty="0">
                        <a:effectLst/>
                        <a:highlight>
                          <a:srgbClr val="FFFFFF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52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135369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 err="1">
                          <a:solidFill>
                            <a:srgbClr val="264A60"/>
                          </a:solidFill>
                          <a:effectLst/>
                          <a:highlight>
                            <a:srgbClr val="E0E0E0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Wating_Time</a:t>
                      </a:r>
                      <a:endParaRPr lang="en-US" sz="1100" dirty="0">
                        <a:effectLst/>
                        <a:highlight>
                          <a:srgbClr val="E0E0E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2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rgbClr val="264A60"/>
                          </a:solidFill>
                          <a:effectLst/>
                          <a:highlight>
                            <a:srgbClr val="E0E0E0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Pearson Correlation</a:t>
                      </a:r>
                      <a:endParaRPr lang="en-US" sz="1100" dirty="0">
                        <a:effectLst/>
                        <a:highlight>
                          <a:srgbClr val="E0E0E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2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rgbClr val="010205"/>
                          </a:solidFill>
                          <a:effectLst/>
                          <a:highlight>
                            <a:srgbClr val="F9F9FB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100" dirty="0">
                        <a:effectLst/>
                        <a:highlight>
                          <a:srgbClr val="F9F9FB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2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rgbClr val="010205"/>
                          </a:solidFill>
                          <a:effectLst/>
                          <a:highlight>
                            <a:srgbClr val="F9F9FB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.732</a:t>
                      </a:r>
                      <a:r>
                        <a:rPr lang="en-US" sz="900" baseline="30000" dirty="0">
                          <a:solidFill>
                            <a:srgbClr val="010205"/>
                          </a:solidFill>
                          <a:effectLst/>
                          <a:highlight>
                            <a:srgbClr val="F9F9FB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**</a:t>
                      </a:r>
                      <a:endParaRPr lang="en-US" sz="1100" dirty="0">
                        <a:effectLst/>
                        <a:highlight>
                          <a:srgbClr val="F9F9FB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152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529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rgbClr val="264A60"/>
                          </a:solidFill>
                          <a:effectLst/>
                          <a:highlight>
                            <a:srgbClr val="E0E0E0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Sig. (2-tailed)</a:t>
                      </a:r>
                      <a:endParaRPr lang="en-US" sz="1100">
                        <a:effectLst/>
                        <a:highlight>
                          <a:srgbClr val="E0E0E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F9F9FB"/>
                          </a:highlight>
                          <a:latin typeface="Times New Roman" panose="020206030504050203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100" dirty="0">
                        <a:effectLst/>
                        <a:highlight>
                          <a:srgbClr val="F9F9FB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rgbClr val="010205"/>
                          </a:solidFill>
                          <a:effectLst/>
                          <a:highlight>
                            <a:srgbClr val="F9F9FB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.000</a:t>
                      </a:r>
                      <a:endParaRPr lang="en-US" sz="1100" dirty="0">
                        <a:effectLst/>
                        <a:highlight>
                          <a:srgbClr val="F9F9FB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8336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rgbClr val="264A60"/>
                          </a:solidFill>
                          <a:effectLst/>
                          <a:highlight>
                            <a:srgbClr val="E0E0E0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1100" dirty="0">
                        <a:effectLst/>
                        <a:highlight>
                          <a:srgbClr val="E0E0E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rgbClr val="010205"/>
                          </a:solidFill>
                          <a:effectLst/>
                          <a:highlight>
                            <a:srgbClr val="F9F9FB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157</a:t>
                      </a:r>
                      <a:endParaRPr lang="en-US" sz="1100">
                        <a:effectLst/>
                        <a:highlight>
                          <a:srgbClr val="F9F9FB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rgbClr val="010205"/>
                          </a:solidFill>
                          <a:effectLst/>
                          <a:highlight>
                            <a:srgbClr val="F9F9FB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157</a:t>
                      </a:r>
                      <a:endParaRPr lang="en-US" sz="1100" dirty="0">
                        <a:effectLst/>
                        <a:highlight>
                          <a:srgbClr val="F9F9FB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085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rgbClr val="264A60"/>
                          </a:solidFill>
                          <a:effectLst/>
                          <a:highlight>
                            <a:srgbClr val="E0E0E0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Cashier_Age</a:t>
                      </a:r>
                      <a:endParaRPr lang="en-US" sz="1100">
                        <a:effectLst/>
                        <a:highlight>
                          <a:srgbClr val="E0E0E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rgbClr val="264A60"/>
                          </a:solidFill>
                          <a:effectLst/>
                          <a:highlight>
                            <a:srgbClr val="E0E0E0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Pearson Correlation</a:t>
                      </a:r>
                      <a:endParaRPr lang="en-US" sz="1100" dirty="0">
                        <a:effectLst/>
                        <a:highlight>
                          <a:srgbClr val="E0E0E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rgbClr val="010205"/>
                          </a:solidFill>
                          <a:effectLst/>
                          <a:highlight>
                            <a:srgbClr val="F9F9FB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.732</a:t>
                      </a:r>
                      <a:r>
                        <a:rPr lang="en-US" sz="900" baseline="30000">
                          <a:solidFill>
                            <a:srgbClr val="010205"/>
                          </a:solidFill>
                          <a:effectLst/>
                          <a:highlight>
                            <a:srgbClr val="F9F9FB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**</a:t>
                      </a:r>
                      <a:endParaRPr lang="en-US" sz="1100">
                        <a:effectLst/>
                        <a:highlight>
                          <a:srgbClr val="F9F9FB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rgbClr val="010205"/>
                          </a:solidFill>
                          <a:effectLst/>
                          <a:highlight>
                            <a:srgbClr val="F9F9FB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100">
                        <a:effectLst/>
                        <a:highlight>
                          <a:srgbClr val="F9F9FB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8961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rgbClr val="264A60"/>
                          </a:solidFill>
                          <a:effectLst/>
                          <a:highlight>
                            <a:srgbClr val="E0E0E0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Sig. (2-tailed)</a:t>
                      </a:r>
                      <a:endParaRPr lang="en-US" sz="1100">
                        <a:effectLst/>
                        <a:highlight>
                          <a:srgbClr val="E0E0E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rgbClr val="010205"/>
                          </a:solidFill>
                          <a:effectLst/>
                          <a:highlight>
                            <a:srgbClr val="F9F9FB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.000</a:t>
                      </a:r>
                      <a:endParaRPr lang="en-US" sz="1100">
                        <a:effectLst/>
                        <a:highlight>
                          <a:srgbClr val="F9F9FB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highlight>
                            <a:srgbClr val="F9F9FB"/>
                          </a:highlight>
                          <a:latin typeface="Times New Roman" panose="020206030504050203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100">
                        <a:effectLst/>
                        <a:highlight>
                          <a:srgbClr val="F9F9FB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7313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rgbClr val="264A60"/>
                          </a:solidFill>
                          <a:effectLst/>
                          <a:highlight>
                            <a:srgbClr val="E0E0E0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1100">
                        <a:effectLst/>
                        <a:highlight>
                          <a:srgbClr val="E0E0E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rgbClr val="010205"/>
                          </a:solidFill>
                          <a:effectLst/>
                          <a:highlight>
                            <a:srgbClr val="F9F9FB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157</a:t>
                      </a:r>
                      <a:endParaRPr lang="en-US" sz="1100">
                        <a:effectLst/>
                        <a:highlight>
                          <a:srgbClr val="F9F9FB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r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rgbClr val="010205"/>
                          </a:solidFill>
                          <a:effectLst/>
                          <a:highlight>
                            <a:srgbClr val="F9F9FB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157</a:t>
                      </a:r>
                      <a:endParaRPr lang="en-US" sz="1100">
                        <a:effectLst/>
                        <a:highlight>
                          <a:srgbClr val="F9F9FB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EA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2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72879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38100" marR="38100">
                        <a:lnSpc>
                          <a:spcPts val="16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rgbClr val="010205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**. Correlation is significant at the 0.01 level (2-tailed).</a:t>
                      </a:r>
                      <a:endParaRPr lang="en-US" sz="1100" dirty="0">
                        <a:effectLst/>
                        <a:highlight>
                          <a:srgbClr val="FFFFFF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52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566876"/>
                  </a:ext>
                </a:extLst>
              </a:tr>
            </a:tbl>
          </a:graphicData>
        </a:graphic>
      </p:graphicFrame>
      <p:sp>
        <p:nvSpPr>
          <p:cNvPr id="12" name="אליפסה 11">
            <a:extLst>
              <a:ext uri="{FF2B5EF4-FFF2-40B4-BE49-F238E27FC236}">
                <a16:creationId xmlns:a16="http://schemas.microsoft.com/office/drawing/2014/main" id="{FBFF4E74-00F3-DFA5-4F00-D60A5587D15E}"/>
              </a:ext>
            </a:extLst>
          </p:cNvPr>
          <p:cNvSpPr/>
          <p:nvPr/>
        </p:nvSpPr>
        <p:spPr>
          <a:xfrm>
            <a:off x="10622604" y="2089653"/>
            <a:ext cx="476655" cy="3711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9D60D3E5-504F-165F-77F5-79E36DABD5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1999" y="3284164"/>
            <a:ext cx="493819" cy="390178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CA5A2E97-9261-4D49-E1BB-3C438226A3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3574" y="5470567"/>
            <a:ext cx="357730" cy="282651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4EA9BF7F-5EB9-C560-736D-B041F9AAD5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6193" y="5470567"/>
            <a:ext cx="359418" cy="283985"/>
          </a:xfrm>
          <a:prstGeom prst="rect">
            <a:avLst/>
          </a:prstGeom>
        </p:spPr>
      </p:pic>
      <p:sp>
        <p:nvSpPr>
          <p:cNvPr id="16" name="מלבן 15">
            <a:extLst>
              <a:ext uri="{FF2B5EF4-FFF2-40B4-BE49-F238E27FC236}">
                <a16:creationId xmlns:a16="http://schemas.microsoft.com/office/drawing/2014/main" id="{6004027B-5C4C-26CC-ED31-02EED1B2B75B}"/>
              </a:ext>
            </a:extLst>
          </p:cNvPr>
          <p:cNvSpPr/>
          <p:nvPr/>
        </p:nvSpPr>
        <p:spPr>
          <a:xfrm>
            <a:off x="5369509" y="266419"/>
            <a:ext cx="792016" cy="336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41C7846E-3FA8-DE70-EED3-016C2823A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6946" y="2066855"/>
            <a:ext cx="493819" cy="39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2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8D3264-B445-0958-D7A1-CD00621AB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29004"/>
          </a:xfrm>
        </p:spPr>
        <p:txBody>
          <a:bodyPr/>
          <a:lstStyle/>
          <a:p>
            <a:pPr algn="ctr"/>
            <a:r>
              <a:rPr lang="he-IL" b="1" dirty="0">
                <a:solidFill>
                  <a:schemeClr val="accent1"/>
                </a:solidFill>
              </a:rPr>
              <a:t>רגרסיה לינארית - המשך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8">
                <a:extLst>
                  <a:ext uri="{FF2B5EF4-FFF2-40B4-BE49-F238E27FC236}">
                    <a16:creationId xmlns:a16="http://schemas.microsoft.com/office/drawing/2014/main" id="{65724AF6-D584-E139-24AC-D81161DC1359}"/>
                  </a:ext>
                </a:extLst>
              </p:cNvPr>
              <p:cNvSpPr txBox="1"/>
              <p:nvPr/>
            </p:nvSpPr>
            <p:spPr>
              <a:xfrm>
                <a:off x="1399592" y="2660301"/>
                <a:ext cx="10792408" cy="3770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defTabSz="804672" rtl="1">
                  <a:lnSpc>
                    <a:spcPct val="90000"/>
                  </a:lnSpc>
                  <a:spcAft>
                    <a:spcPts val="528"/>
                  </a:spcAft>
                </a:pPr>
                <a:r>
                  <a:rPr lang="he-IL" sz="2000" b="1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David" panose="020E0502060401010101" pitchFamily="34" charset="-79"/>
                  </a:rPr>
                  <a:t>תוצאות</a:t>
                </a:r>
                <a:r>
                  <a:rPr lang="en-US" sz="2000" b="1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David" panose="020E0502060401010101" pitchFamily="34" charset="-79"/>
                  </a:rPr>
                  <a:t> </a:t>
                </a:r>
                <a:r>
                  <a:rPr lang="en-US" sz="2000" b="1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David" panose="020E0502060401010101" pitchFamily="34" charset="-79"/>
                  </a:rPr>
                  <a:t>המודל</a:t>
                </a:r>
                <a:r>
                  <a:rPr lang="en-US" sz="2000" b="1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David" panose="020E0502060401010101" pitchFamily="34" charset="-79"/>
                  </a:rPr>
                  <a:t>:</a:t>
                </a:r>
              </a:p>
              <a:p>
                <a:pPr algn="r" defTabSz="804672" rtl="1">
                  <a:lnSpc>
                    <a:spcPct val="90000"/>
                  </a:lnSpc>
                  <a:spcAft>
                    <a:spcPts val="528"/>
                  </a:spcAft>
                </a:pPr>
                <a:r>
                  <a:rPr lang="en-US" sz="2000" b="1" kern="1200" dirty="0">
                    <a:solidFill>
                      <a:srgbClr val="C00000"/>
                    </a:solidFill>
                    <a:latin typeface="David" panose="020E0502060401010101" pitchFamily="34" charset="-79"/>
                    <a:ea typeface="+mn-ea"/>
                    <a:cs typeface="David" panose="020E0502060401010101" pitchFamily="34" charset="-79"/>
                  </a:rPr>
                  <a:t>.1</a:t>
                </a:r>
                <a:r>
                  <a:rPr lang="he-IL" sz="2000" kern="1200" dirty="0">
                    <a:solidFill>
                      <a:srgbClr val="C00000"/>
                    </a:solidFill>
                    <a:latin typeface="David" panose="020E0502060401010101" pitchFamily="34" charset="-79"/>
                    <a:ea typeface="+mn-ea"/>
                    <a:cs typeface="David" panose="020E0502060401010101" pitchFamily="34" charset="-79"/>
                  </a:rPr>
                  <a:t> </a:t>
                </a:r>
                <a:r>
                  <a:rPr lang="he-IL" sz="20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David" panose="020E0502060401010101" pitchFamily="34" charset="-79"/>
                  </a:rPr>
                  <a:t>לא קיבלנו פלט על תצפיות חריגות מטבלת </a:t>
                </a:r>
                <a:r>
                  <a:rPr lang="en-US" sz="2000" dirty="0">
                    <a:latin typeface="David" panose="020E0502060401010101" pitchFamily="34" charset="-79"/>
                    <a:cs typeface="David" panose="020E0502060401010101" pitchFamily="34" charset="-79"/>
                  </a:rPr>
                  <a:t>  </a:t>
                </a:r>
                <a:r>
                  <a:rPr lang="en-US" sz="20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David" panose="020E0502060401010101" pitchFamily="34" charset="-79"/>
                  </a:rPr>
                  <a:t> , Case wise diagnostic</a:t>
                </a:r>
                <a:r>
                  <a:rPr lang="he-IL" sz="20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David" panose="020E0502060401010101" pitchFamily="34" charset="-79"/>
                  </a:rPr>
                  <a:t>לכן אין תצפיות חריגות.</a:t>
                </a:r>
              </a:p>
              <a:p>
                <a:pPr algn="r" defTabSz="804672" rtl="1">
                  <a:lnSpc>
                    <a:spcPct val="90000"/>
                  </a:lnSpc>
                  <a:spcAft>
                    <a:spcPts val="528"/>
                  </a:spcAft>
                </a:pPr>
                <a:r>
                  <a:rPr lang="he-IL" sz="2000" b="1" dirty="0">
                    <a:solidFill>
                      <a:srgbClr val="C00000"/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2. </a:t>
                </a:r>
                <a:r>
                  <a:rPr lang="he-IL" sz="2000" dirty="0">
                    <a:latin typeface="David" panose="020E0502060401010101" pitchFamily="34" charset="-79"/>
                    <a:cs typeface="David" panose="020E0502060401010101" pitchFamily="34" charset="-79"/>
                  </a:rPr>
                  <a:t>ניתן לראות לפי הגרף שקיבלנו מבדיקת </a:t>
                </a:r>
                <a:r>
                  <a:rPr lang="he-IL" sz="2000" dirty="0" err="1">
                    <a:latin typeface="David" panose="020E0502060401010101" pitchFamily="34" charset="-79"/>
                    <a:cs typeface="David" panose="020E0502060401010101" pitchFamily="34" charset="-79"/>
                  </a:rPr>
                  <a:t>הומוסקדסטיות</a:t>
                </a:r>
                <a:r>
                  <a:rPr lang="he-IL" sz="2000" dirty="0">
                    <a:latin typeface="David" panose="020E0502060401010101" pitchFamily="34" charset="-79"/>
                    <a:cs typeface="David" panose="020E0502060401010101" pitchFamily="34" charset="-79"/>
                  </a:rPr>
                  <a:t> כי ישנו פיזור באופן אקראי וסימטריה בין 2 הצירים ולכן נסיק כי השוניות שוות.</a:t>
                </a:r>
                <a:endParaRPr lang="he-IL" sz="2000" kern="1200" dirty="0">
                  <a:solidFill>
                    <a:schemeClr val="tx1"/>
                  </a:solidFill>
                  <a:latin typeface="David" panose="020E0502060401010101" pitchFamily="34" charset="-79"/>
                  <a:ea typeface="+mn-ea"/>
                  <a:cs typeface="David" panose="020E0502060401010101" pitchFamily="34" charset="-79"/>
                </a:endParaRPr>
              </a:p>
              <a:p>
                <a:pPr algn="r" defTabSz="804672" rtl="1">
                  <a:lnSpc>
                    <a:spcPct val="90000"/>
                  </a:lnSpc>
                  <a:spcAft>
                    <a:spcPts val="528"/>
                  </a:spcAft>
                </a:pPr>
                <a:r>
                  <a:rPr lang="en-US" sz="200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David" panose="020E0502060401010101" pitchFamily="34" charset="-79"/>
                  </a:rPr>
                  <a:t>R² = 0.535 </a:t>
                </a:r>
                <a:r>
                  <a:rPr lang="en-US" sz="2000" b="1" kern="12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+mn-ea"/>
                    <a:cs typeface="David" panose="020E0502060401010101" pitchFamily="34" charset="-79"/>
                  </a:rPr>
                  <a:t>.3</a:t>
                </a:r>
                <a:r>
                  <a:rPr lang="he-IL" sz="200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David" panose="020E0502060401010101" pitchFamily="34" charset="-79"/>
                  </a:rPr>
                  <a:t> ,כלומר  53.5% מהשונות של זמן ההמתנה בתור לקופה מוסברת ע"י גיל הקופאי/ת.</a:t>
                </a:r>
              </a:p>
              <a:p>
                <a:pPr algn="r" defTabSz="804672" rtl="1">
                  <a:lnSpc>
                    <a:spcPct val="90000"/>
                  </a:lnSpc>
                  <a:spcAft>
                    <a:spcPts val="528"/>
                  </a:spcAft>
                </a:pPr>
                <a:r>
                  <a:rPr lang="en-US" sz="2000" dirty="0">
                    <a:latin typeface="Cambria Math" panose="02040503050406030204" pitchFamily="18" charset="0"/>
                    <a:cs typeface="David" panose="020E0502060401010101" pitchFamily="34" charset="-79"/>
                  </a:rPr>
                  <a:t>  </a:t>
                </a:r>
                <a:r>
                  <a:rPr lang="en-US" sz="2000" b="1" dirty="0">
                    <a:solidFill>
                      <a:srgbClr val="C00000"/>
                    </a:solidFill>
                    <a:latin typeface="Cambria Math" panose="02040503050406030204" pitchFamily="18" charset="0"/>
                    <a:cs typeface="David" panose="020E0502060401010101" pitchFamily="34" charset="-79"/>
                  </a:rPr>
                  <a:t>.4</a:t>
                </a:r>
                <a:r>
                  <a:rPr lang="he-IL" sz="2000" dirty="0">
                    <a:latin typeface="Cambria Math" panose="02040503050406030204" pitchFamily="18" charset="0"/>
                    <a:cs typeface="David" panose="020E0502060401010101" pitchFamily="34" charset="-79"/>
                  </a:rPr>
                  <a:t>ניתן לראות לפי הגרף המצורף את המגמה החיובית בין 2 המשתנים כמו כן קיבלנו כי מקדם המתאם של </a:t>
                </a:r>
                <a:r>
                  <a:rPr lang="he-IL" sz="2000" dirty="0" err="1">
                    <a:latin typeface="Cambria Math" panose="02040503050406030204" pitchFamily="18" charset="0"/>
                    <a:cs typeface="David" panose="020E0502060401010101" pitchFamily="34" charset="-79"/>
                  </a:rPr>
                  <a:t>פירסון</a:t>
                </a:r>
                <a:r>
                  <a:rPr lang="en-US" sz="2000" dirty="0">
                    <a:latin typeface="Cambria Math" panose="02040503050406030204" pitchFamily="18" charset="0"/>
                    <a:cs typeface="David" panose="020E0502060401010101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7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732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David" panose="020E0502060401010101" pitchFamily="34" charset="-79"/>
                      </a:rPr>
                      <m:t>1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cs typeface="David" panose="020E0502060401010101" pitchFamily="34" charset="-79"/>
                  </a:rPr>
                  <a:t> </a:t>
                </a:r>
                <a:r>
                  <a:rPr lang="he-IL" sz="2000" dirty="0">
                    <a:latin typeface="Cambria Math" panose="02040503050406030204" pitchFamily="18" charset="0"/>
                    <a:cs typeface="David" panose="020E0502060401010101" pitchFamily="34" charset="-79"/>
                  </a:rPr>
                  <a:t>ולכן נסיק כי ישנו קשר ליניארי חיובי חזק.</a:t>
                </a:r>
                <a:endParaRPr lang="he-IL" sz="2000" kern="1200" dirty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David" panose="020E0502060401010101" pitchFamily="34" charset="-79"/>
                </a:endParaRPr>
              </a:p>
              <a:p>
                <a:pPr defTabSz="804672">
                  <a:lnSpc>
                    <a:spcPct val="90000"/>
                  </a:lnSpc>
                  <a:spcAft>
                    <a:spcPts val="528"/>
                  </a:spcAft>
                </a:pPr>
                <a:r>
                  <a:rPr lang="he-IL" sz="2000" b="1" kern="12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+mn-ea"/>
                    <a:cs typeface="David" panose="020E0502060401010101" pitchFamily="34" charset="-79"/>
                  </a:rPr>
                  <a:t>5. </a:t>
                </a:r>
                <a:r>
                  <a:rPr lang="he-IL" sz="200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David" panose="020E0502060401010101" pitchFamily="34" charset="-79"/>
                  </a:rPr>
                  <a:t>קיבלנו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0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en-US" sz="20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𝑣𝑎𝑙𝑢𝑒</m:t>
                        </m:r>
                      </m:sub>
                    </m:sSub>
                    <m:r>
                      <a:rPr lang="en-US" sz="20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20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20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20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000</m:t>
                    </m:r>
                    <m:r>
                      <a:rPr lang="en-US" sz="20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lang="en-US" sz="20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20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20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05</m:t>
                    </m:r>
                    <m:r>
                      <a:rPr lang="en-US" sz="20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he-IL" sz="2000" i="1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David" panose="020E0502060401010101" pitchFamily="34" charset="-79"/>
                  </a:rPr>
                  <a:t> </a:t>
                </a:r>
                <a:r>
                  <a:rPr lang="he-IL" sz="2000" i="1" dirty="0">
                    <a:latin typeface="Cambria Math" panose="02040503050406030204" pitchFamily="18" charset="0"/>
                    <a:cs typeface="David" panose="020E0502060401010101" pitchFamily="34" charset="-79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𝑣𝑎𝑙𝑢𝑒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002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sz="200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David" panose="020E0502060401010101" pitchFamily="34" charset="-79"/>
                  </a:rPr>
                  <a:t> ולכן נקבע כי בכל רמת מובהקות סבירה (ובפרט בר"מ 5%)  קיימת משוואת ניבוי מובהקת אשר ע"פ הפלט הנתון הינה:</a:t>
                </a:r>
                <a:endParaRPr lang="en-US" sz="2000" kern="1200" dirty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David" panose="020E0502060401010101" pitchFamily="34" charset="-79"/>
                </a:endParaRPr>
              </a:p>
              <a:p>
                <a:pPr algn="r" defTabSz="80467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+mn-ea"/>
                        </a:rPr>
                        <m:t>𝐘</m:t>
                      </m:r>
                      <m:r>
                        <a:rPr lang="en-US" sz="24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lang="en-US" sz="24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+mn-ea"/>
                        </a:rPr>
                        <m:t>𝟎</m:t>
                      </m:r>
                      <m:r>
                        <a:rPr lang="en-US" sz="24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r>
                        <a:rPr lang="en-US" sz="2400" b="1" i="0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+mn-ea"/>
                        </a:rPr>
                        <m:t>𝟐𝟐𝟖</m:t>
                      </m:r>
                      <m:r>
                        <a:rPr lang="en-US" sz="2400" b="1" kern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+mn-ea"/>
                        </a:rPr>
                        <m:t>𝐗</m:t>
                      </m:r>
                      <m:r>
                        <a:rPr lang="en-US" sz="2400" b="1" i="0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r>
                        <a:rPr lang="en-US" sz="2400" b="1" i="0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+mn-ea"/>
                        </a:rPr>
                        <m:t>𝟐</m:t>
                      </m:r>
                      <m:r>
                        <a:rPr lang="en-US" sz="2400" b="1" i="0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r>
                        <a:rPr lang="en-US" sz="2400" b="1" i="0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+mn-ea"/>
                        </a:rPr>
                        <m:t>𝟎𝟓𝟖</m:t>
                      </m:r>
                    </m:oMath>
                  </m:oMathPara>
                </a14:m>
                <a:endParaRPr lang="en-US" sz="2400" b="1" kern="12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anose="04030905020B02020C02" pitchFamily="82" charset="0"/>
                  <a:ea typeface="+mn-ea"/>
                  <a:cs typeface="David" panose="020E0502060401010101" pitchFamily="34" charset="-79"/>
                </a:endParaRPr>
              </a:p>
              <a:p>
                <a:pPr algn="r" defTabSz="804672"/>
                <a:r>
                  <a:rPr lang="he-IL" sz="200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David" panose="020E0502060401010101" pitchFamily="34" charset="-79"/>
                  </a:rPr>
                  <a:t>זאת אומרת שבהינתן גיל הקופאי/ת, נוכל לחזות את זמן ההמתנה בתור לקופה של אותו הקופאי/ת</a:t>
                </a:r>
                <a:endParaRPr lang="he-IL" sz="2800" b="1" dirty="0">
                  <a:latin typeface="David" panose="020E0502060401010101" pitchFamily="34" charset="-79"/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6" name="TextBox 18">
                <a:extLst>
                  <a:ext uri="{FF2B5EF4-FFF2-40B4-BE49-F238E27FC236}">
                    <a16:creationId xmlns:a16="http://schemas.microsoft.com/office/drawing/2014/main" id="{65724AF6-D584-E139-24AC-D81161DC1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592" y="2660301"/>
                <a:ext cx="10792408" cy="3770263"/>
              </a:xfrm>
              <a:prstGeom prst="rect">
                <a:avLst/>
              </a:prstGeom>
              <a:blipFill>
                <a:blip r:embed="rId2"/>
                <a:stretch>
                  <a:fillRect l="-226" t="-1454" r="-62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6">
            <a:extLst>
              <a:ext uri="{FF2B5EF4-FFF2-40B4-BE49-F238E27FC236}">
                <a16:creationId xmlns:a16="http://schemas.microsoft.com/office/drawing/2014/main" id="{0DB5CC96-64FE-95C1-33EC-C6B00C765EB8}"/>
              </a:ext>
            </a:extLst>
          </p:cNvPr>
          <p:cNvSpPr txBox="1"/>
          <p:nvPr/>
        </p:nvSpPr>
        <p:spPr>
          <a:xfrm>
            <a:off x="5493003" y="878924"/>
            <a:ext cx="6698997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הנחות </a:t>
            </a:r>
            <a:r>
              <a:rPr lang="en-US" sz="2000" b="1" dirty="0" err="1">
                <a:latin typeface="David" panose="020E0502060401010101" pitchFamily="34" charset="-79"/>
                <a:cs typeface="David" panose="020E0502060401010101" pitchFamily="34" charset="-79"/>
              </a:rPr>
              <a:t>המודל</a:t>
            </a: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  <a:endParaRPr lang="he-IL" sz="2000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 rtl="1">
              <a:lnSpc>
                <a:spcPct val="90000"/>
              </a:lnSpc>
              <a:spcAft>
                <a:spcPts val="600"/>
              </a:spcAft>
            </a:pPr>
            <a:r>
              <a:rPr lang="he-IL" sz="20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1.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המשתנים רציפים : זמן המתנה, גיל הקופאית</a:t>
            </a:r>
          </a:p>
          <a:p>
            <a:pPr algn="r" rtl="1">
              <a:lnSpc>
                <a:spcPct val="90000"/>
              </a:lnSpc>
              <a:spcAft>
                <a:spcPts val="600"/>
              </a:spcAft>
            </a:pPr>
            <a:r>
              <a:rPr lang="he-IL" sz="20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2.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אין תצפיות חריגות מטבלת 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Case wise diagnostic</a:t>
            </a:r>
            <a:endParaRPr lang="he-IL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 rtl="1">
              <a:lnSpc>
                <a:spcPct val="90000"/>
              </a:lnSpc>
              <a:spcAft>
                <a:spcPts val="600"/>
              </a:spcAft>
            </a:pPr>
            <a:r>
              <a:rPr lang="he-IL" sz="20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3.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קיים קשר לינארי</a:t>
            </a:r>
          </a:p>
        </p:txBody>
      </p:sp>
    </p:spTree>
    <p:extLst>
      <p:ext uri="{BB962C8B-B14F-4D97-AF65-F5344CB8AC3E}">
        <p14:creationId xmlns:p14="http://schemas.microsoft.com/office/powerpoint/2010/main" val="34304260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4078</TotalTime>
  <Words>1676</Words>
  <Application>Microsoft Office PowerPoint</Application>
  <PresentationFormat>מסך רחב</PresentationFormat>
  <Paragraphs>173</Paragraphs>
  <Slides>11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21" baseType="lpstr">
      <vt:lpstr>Aptos</vt:lpstr>
      <vt:lpstr>Aptos Display</vt:lpstr>
      <vt:lpstr>Arial</vt:lpstr>
      <vt:lpstr>Bauhaus 93</vt:lpstr>
      <vt:lpstr>Cambria Math</vt:lpstr>
      <vt:lpstr>David</vt:lpstr>
      <vt:lpstr>Rockwell</vt:lpstr>
      <vt:lpstr>Times New Roman</vt:lpstr>
      <vt:lpstr>Wingdings</vt:lpstr>
      <vt:lpstr>ערכת נושא Office</vt:lpstr>
      <vt:lpstr>זמן המתנה בתור לקופה בסופר</vt:lpstr>
      <vt:lpstr>מצגת של PowerPoint‏</vt:lpstr>
      <vt:lpstr>הגדרת משתנים</vt:lpstr>
      <vt:lpstr>סטטיסטיקה תיאורית</vt:lpstr>
      <vt:lpstr>רווח סמך לתוחלת</vt:lpstr>
      <vt:lpstr>בדיקת השערות על שתי אוכלוסיות בלתי תלויות ור"ס </vt:lpstr>
      <vt:lpstr>בדיקת השערות על שתי אוכלוסיות  תלויות ור"ס </vt:lpstr>
      <vt:lpstr>מצגת של PowerPoint‏</vt:lpstr>
      <vt:lpstr>ניתוח שונות דו כיוונית</vt:lpstr>
      <vt:lpstr>רגרסיה ליניארית פשוטה</vt:lpstr>
      <vt:lpstr>רגרסיה לינארית - המשך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זמן המתנה בתור לקופה בסופר</dc:title>
  <dc:creator>Sara Hamoud</dc:creator>
  <cp:lastModifiedBy>Sara Hamoud</cp:lastModifiedBy>
  <cp:revision>29</cp:revision>
  <dcterms:created xsi:type="dcterms:W3CDTF">2024-07-08T16:58:03Z</dcterms:created>
  <dcterms:modified xsi:type="dcterms:W3CDTF">2024-08-08T21:45:45Z</dcterms:modified>
</cp:coreProperties>
</file>